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1" r:id="rId1"/>
  </p:sldMasterIdLst>
  <p:notesMasterIdLst>
    <p:notesMasterId r:id="rId9"/>
  </p:notesMasterIdLst>
  <p:sldIdLst>
    <p:sldId id="264" r:id="rId2"/>
    <p:sldId id="259" r:id="rId3"/>
    <p:sldId id="261" r:id="rId4"/>
    <p:sldId id="260" r:id="rId5"/>
    <p:sldId id="274" r:id="rId6"/>
    <p:sldId id="270" r:id="rId7"/>
    <p:sldId id="263" r:id="rId8"/>
  </p:sldIdLst>
  <p:sldSz cx="9144000" cy="5143500" type="screen16x9"/>
  <p:notesSz cx="6858000" cy="9144000"/>
  <p:embeddedFontLst>
    <p:embeddedFont>
      <p:font typeface="DM Sans" panose="020B0604020202020204" charset="0"/>
      <p:regular r:id="rId10"/>
      <p:bold r:id="rId11"/>
      <p:italic r:id="rId12"/>
      <p:boldItalic r:id="rId13"/>
    </p:embeddedFont>
    <p:embeddedFont>
      <p:font typeface="Outfit" panose="020B0604020202020204" charset="0"/>
      <p:regular r:id="rId14"/>
      <p:bold r:id="rId15"/>
    </p:embeddedFont>
    <p:embeddedFont>
      <p:font typeface="Outfit Medium" panose="020B0604020202020204" charset="0"/>
      <p:regular r:id="rId16"/>
      <p:bold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6FF468C-B63A-48FC-8D5A-785845C8241E}">
  <a:tblStyle styleId="{B6FF468C-B63A-48FC-8D5A-785845C8241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822" autoAdjust="0"/>
    <p:restoredTop sz="93883" autoAdjust="0"/>
  </p:normalViewPr>
  <p:slideViewPr>
    <p:cSldViewPr snapToGrid="0">
      <p:cViewPr varScale="1">
        <p:scale>
          <a:sx n="90" d="100"/>
          <a:sy n="90" d="100"/>
        </p:scale>
        <p:origin x="82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54dda1946d_6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54dda1946d_6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This dataset shows the market trends from </a:t>
            </a:r>
            <a:r>
              <a:rPr lang="en-US" b="1" dirty="0" smtClean="0"/>
              <a:t>2012 to 2025. </a:t>
            </a:r>
            <a:r>
              <a:rPr lang="en-US" dirty="0" smtClean="0"/>
              <a:t>The dataset includes city-level metrics such as prices, inventory, new listings, sales activity, and market competitiveness.</a:t>
            </a:r>
          </a:p>
          <a:p>
            <a:endParaRPr lang="en-US" b="0" dirty="0" smtClean="0"/>
          </a:p>
          <a:p>
            <a:pPr marL="457200" indent="-298450">
              <a:buFont typeface="Wingdings" panose="05000000000000000000" pitchFamily="2" charset="2"/>
              <a:buChar char="Ø"/>
            </a:pPr>
            <a:r>
              <a:rPr lang="en-US" b="0" dirty="0" smtClean="0"/>
              <a:t>This </a:t>
            </a:r>
            <a:r>
              <a:rPr lang="en-US" b="0" dirty="0" err="1" smtClean="0"/>
              <a:t>heatmap</a:t>
            </a:r>
            <a:r>
              <a:rPr lang="en-US" b="0" dirty="0" smtClean="0"/>
              <a:t> shows how the main housing metrics relate to each other across all U.S. cities in 2024</a:t>
            </a:r>
            <a:r>
              <a:rPr lang="en-US" b="0" baseline="0" dirty="0" smtClean="0"/>
              <a:t> - </a:t>
            </a:r>
            <a:r>
              <a:rPr lang="en-US" b="0" dirty="0" smtClean="0"/>
              <a:t>2025.</a:t>
            </a:r>
          </a:p>
          <a:p>
            <a:pPr marL="457200" indent="-298450">
              <a:buFont typeface="Wingdings" panose="05000000000000000000" pitchFamily="2" charset="2"/>
              <a:buChar char="Ø"/>
            </a:pPr>
            <a:r>
              <a:rPr lang="en-US" b="0" dirty="0" smtClean="0"/>
              <a:t>The strongest correlations appear in the housing activity variables - inventory, new listings, and homes sold - which all move together. This simply means that large, active markets tend to have more of everything.</a:t>
            </a:r>
          </a:p>
          <a:p>
            <a:pPr marL="457200" indent="-298450">
              <a:buFont typeface="Wingdings" panose="05000000000000000000" pitchFamily="2" charset="2"/>
              <a:buChar char="Ø"/>
            </a:pPr>
            <a:r>
              <a:rPr lang="en-US" dirty="0" smtClean="0"/>
              <a:t>List price and sale price also show a moderate relationship, which is expected because higher-priced cities usually have both higher asking and selling prices.</a:t>
            </a:r>
            <a:endParaRPr lang="en-US" b="0" dirty="0" smtClean="0"/>
          </a:p>
          <a:p>
            <a:pPr marL="457200" indent="-298450">
              <a:buFont typeface="Wingdings" panose="05000000000000000000" pitchFamily="2" charset="2"/>
              <a:buChar char="Ø"/>
            </a:pPr>
            <a:r>
              <a:rPr lang="en-US" dirty="0" smtClean="0"/>
              <a:t>Finally, most other correlations are very weak, which shows the diversity across cities </a:t>
            </a:r>
          </a:p>
          <a:p>
            <a:pPr marL="457200" indent="-298450">
              <a:buFont typeface="Wingdings" panose="05000000000000000000" pitchFamily="2" charset="2"/>
              <a:buChar char="Ø"/>
            </a:pPr>
            <a:r>
              <a:rPr lang="en-US" dirty="0" smtClean="0"/>
              <a:t>Based on these strongest relationships, </a:t>
            </a:r>
            <a:r>
              <a:rPr lang="en-US" b="1" dirty="0" smtClean="0"/>
              <a:t>three hypotheses were formulated</a:t>
            </a:r>
            <a:r>
              <a:rPr lang="en-US" dirty="0" smtClean="0"/>
              <a:t>, each focusing on a different market mechanism:</a:t>
            </a:r>
          </a:p>
          <a:p>
            <a:pPr marL="158750" indent="0">
              <a:buFont typeface="Wingdings" panose="05000000000000000000" pitchFamily="2" charset="2"/>
              <a:buNone/>
            </a:pPr>
            <a:r>
              <a:rPr lang="en-US" b="1" dirty="0" smtClean="0"/>
              <a:t>H1 (Pricing behavior)</a:t>
            </a:r>
          </a:p>
          <a:p>
            <a:pPr marL="158750" indent="0">
              <a:buNone/>
            </a:pPr>
            <a:r>
              <a:rPr lang="en-US" b="1" dirty="0" smtClean="0"/>
              <a:t>H2 (Market competitiveness</a:t>
            </a:r>
          </a:p>
          <a:p>
            <a:pPr marL="158750" indent="0">
              <a:buNone/>
            </a:pPr>
            <a:r>
              <a:rPr lang="en-US" b="1" dirty="0" smtClean="0"/>
              <a:t>H3 (Supply</a:t>
            </a:r>
            <a:r>
              <a:rPr lang="en-US" b="1" baseline="0" dirty="0" smtClean="0"/>
              <a:t> - </a:t>
            </a:r>
            <a:r>
              <a:rPr lang="en-US" b="1" dirty="0" smtClean="0"/>
              <a:t>demand pressure)</a:t>
            </a:r>
            <a:endParaRPr lang="en-US" dirty="0" smtClean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In other words, the assumption is that expensive markets show bigger differences between what sellers ask and what buyers actually pay.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  <a:p>
            <a:r>
              <a:rPr lang="en-US" dirty="0" smtClean="0"/>
              <a:t>To address Hypothesis 1, two fundamental variables are required: </a:t>
            </a:r>
            <a:r>
              <a:rPr lang="en-US" b="1" dirty="0" smtClean="0"/>
              <a:t>Median List Price</a:t>
            </a:r>
            <a:r>
              <a:rPr lang="en-US" dirty="0" smtClean="0"/>
              <a:t> and </a:t>
            </a:r>
            <a:r>
              <a:rPr lang="en-US" b="1" dirty="0" smtClean="0"/>
              <a:t>Median Sale Price</a:t>
            </a:r>
            <a:r>
              <a:rPr lang="en-US" dirty="0" smtClean="0"/>
              <a:t>. </a:t>
            </a:r>
            <a:r>
              <a:rPr lang="en-US" dirty="0" smtClean="0"/>
              <a:t>Observations </a:t>
            </a:r>
            <a:r>
              <a:rPr lang="en-US" dirty="0" smtClean="0"/>
              <a:t>missing either of these values cannot contribute meaningfully to the analysis; therefore, rows with missing values in these two variables were removed.</a:t>
            </a:r>
            <a:br>
              <a:rPr lang="en-US" dirty="0" smtClean="0"/>
            </a:br>
            <a:endParaRPr lang="en-US" dirty="0" smtClean="0"/>
          </a:p>
          <a:p>
            <a:r>
              <a:rPr lang="en-US" dirty="0" smtClean="0"/>
              <a:t>Rows were </a:t>
            </a:r>
            <a:r>
              <a:rPr lang="en-US" b="1" dirty="0" smtClean="0"/>
              <a:t>not imputed</a:t>
            </a:r>
            <a:r>
              <a:rPr lang="en-US" dirty="0" smtClean="0"/>
              <a:t> using averages because imputation would artificially distort price gaps, potentially creating relationships that do not exist in the real market.</a:t>
            </a:r>
          </a:p>
          <a:p>
            <a:endParaRPr lang="en-US" dirty="0" smtClean="0"/>
          </a:p>
          <a:p>
            <a:r>
              <a:rPr lang="en-US" dirty="0" smtClean="0"/>
              <a:t>Two new analytical variables were constructed:</a:t>
            </a:r>
          </a:p>
          <a:p>
            <a:r>
              <a:rPr lang="en-US" b="1" dirty="0" smtClean="0"/>
              <a:t>PRICE_GAP</a:t>
            </a:r>
            <a:r>
              <a:rPr lang="en-US" dirty="0" smtClean="0"/>
              <a:t>, the difference between list and sale price, measures how much sellers adjust their expectations.</a:t>
            </a:r>
          </a:p>
          <a:p>
            <a:r>
              <a:rPr lang="en-US" b="1" dirty="0" smtClean="0"/>
              <a:t>PRICE_GAP_PCT</a:t>
            </a:r>
            <a:r>
              <a:rPr lang="en-US" dirty="0" smtClean="0"/>
              <a:t>, the gap relative to the list price, accounts for differences between expensive and inexpensive cities.</a:t>
            </a:r>
          </a:p>
          <a:p>
            <a:endParaRPr lang="en-US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  <a:p>
            <a:endParaRPr lang="en-IN" dirty="0" smtClean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 smtClean="0"/>
              <a:t>The first scatter plot compares a city’s average list price to its average dollar-based price gap.</a:t>
            </a:r>
            <a:br>
              <a:rPr lang="en-US" dirty="0" smtClean="0"/>
            </a:br>
            <a:r>
              <a:rPr lang="en-US" dirty="0" smtClean="0"/>
              <a:t>A clear upward trend is visible: as the list price increases, the price gap also increases.</a:t>
            </a:r>
            <a:br>
              <a:rPr lang="en-US" dirty="0" smtClean="0"/>
            </a:br>
            <a:r>
              <a:rPr lang="en-US" dirty="0" smtClean="0"/>
              <a:t>This means that high-priced cities tend to show much larger absolute differences between list and sale prices.</a:t>
            </a:r>
            <a:br>
              <a:rPr lang="en-US" dirty="0" smtClean="0"/>
            </a:br>
            <a:r>
              <a:rPr lang="en-US" dirty="0" smtClean="0"/>
              <a:t>The correlation coefficient is +0.72, which is considered strong and positive, confirming this upward relationship.</a:t>
            </a:r>
          </a:p>
          <a:p>
            <a:endParaRPr lang="en-US" dirty="0" smtClean="0"/>
          </a:p>
          <a:p>
            <a:r>
              <a:rPr lang="en-US" dirty="0" smtClean="0"/>
              <a:t>The second graph uses the same variables but expresses the gap as a percentage of the list price.</a:t>
            </a:r>
            <a:br>
              <a:rPr lang="en-US" dirty="0" smtClean="0"/>
            </a:br>
            <a:r>
              <a:rPr lang="en-US" dirty="0" smtClean="0"/>
              <a:t>Here, the points are nearly flat, with no visible trend.</a:t>
            </a:r>
            <a:br>
              <a:rPr lang="en-US" dirty="0" smtClean="0"/>
            </a:br>
            <a:r>
              <a:rPr lang="en-US" dirty="0" smtClean="0"/>
              <a:t>The correlation is -</a:t>
            </a:r>
            <a:r>
              <a:rPr lang="en-US" baseline="0" dirty="0" smtClean="0"/>
              <a:t> </a:t>
            </a:r>
            <a:r>
              <a:rPr lang="en-US" dirty="0" smtClean="0"/>
              <a:t>0.008, extremely close to zero.</a:t>
            </a:r>
            <a:br>
              <a:rPr lang="en-US" dirty="0" smtClean="0"/>
            </a:br>
            <a:r>
              <a:rPr lang="en-US" dirty="0" smtClean="0"/>
              <a:t>This indicates that although expensive cities have larger dollar gaps, these gaps are not unusually large once adjusted for the price level.</a:t>
            </a:r>
          </a:p>
          <a:p>
            <a:endParaRPr lang="en-US" dirty="0" smtClean="0"/>
          </a:p>
          <a:p>
            <a:r>
              <a:rPr lang="en-US" dirty="0" smtClean="0"/>
              <a:t>Dividing the price gap by the list price normalizes everything to a fraction.</a:t>
            </a:r>
          </a:p>
          <a:p>
            <a:r>
              <a:rPr lang="en-US" dirty="0" smtClean="0"/>
              <a:t>A $40,000 gap on a $4M house becomes only 1%.</a:t>
            </a:r>
          </a:p>
          <a:p>
            <a:r>
              <a:rPr lang="en-US" dirty="0" smtClean="0"/>
              <a:t>This artificially </a:t>
            </a:r>
            <a:r>
              <a:rPr lang="en-US" i="1" dirty="0" smtClean="0"/>
              <a:t>shrinks</a:t>
            </a:r>
            <a:r>
              <a:rPr lang="en-US" dirty="0" smtClean="0"/>
              <a:t> differences and hides real patterns.</a:t>
            </a:r>
          </a:p>
          <a:p>
            <a:r>
              <a:rPr lang="en-US" dirty="0" smtClean="0"/>
              <a:t>So the </a:t>
            </a:r>
            <a:r>
              <a:rPr lang="en-US" b="1" dirty="0" smtClean="0"/>
              <a:t>percentage plot does NOT help answer our hypothesis</a:t>
            </a:r>
            <a:r>
              <a:rPr lang="en-US" dirty="0" smtClean="0"/>
              <a:t>,</a:t>
            </a:r>
          </a:p>
          <a:p>
            <a:endParaRPr lang="en-US" dirty="0" smtClean="0"/>
          </a:p>
          <a:p>
            <a:endParaRPr lang="en-US" dirty="0" smtClean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en-US" dirty="0" smtClean="0"/>
              <a:t>The idea behind H2 is simple:</a:t>
            </a:r>
          </a:p>
          <a:p>
            <a:pPr marL="457200" indent="-298450">
              <a:buFont typeface="Wingdings" panose="05000000000000000000" pitchFamily="2" charset="2"/>
              <a:buChar char="Ø"/>
            </a:pPr>
            <a:r>
              <a:rPr lang="en-US" dirty="0" smtClean="0"/>
              <a:t>If buyers are competing more intensely, homes sell </a:t>
            </a:r>
            <a:r>
              <a:rPr lang="en-US" b="1" dirty="0" smtClean="0"/>
              <a:t>closer to (or above) list price</a:t>
            </a:r>
            <a:r>
              <a:rPr lang="en-US" dirty="0" smtClean="0"/>
              <a:t> and </a:t>
            </a:r>
            <a:r>
              <a:rPr lang="en-US" b="1" dirty="0" smtClean="0"/>
              <a:t>faster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Outcome (Y):</a:t>
            </a:r>
            <a:r>
              <a:rPr lang="en-US" dirty="0" smtClean="0"/>
              <a:t> Median Days on Market (DOM)</a:t>
            </a:r>
          </a:p>
          <a:p>
            <a:r>
              <a:rPr lang="en-US" b="1" dirty="0" smtClean="0"/>
              <a:t>Predictors (X):</a:t>
            </a:r>
            <a:endParaRPr lang="en-US" dirty="0" smtClean="0"/>
          </a:p>
          <a:p>
            <a:r>
              <a:rPr lang="en-US" dirty="0" smtClean="0"/>
              <a:t>Sale-to-list ratio</a:t>
            </a:r>
          </a:p>
          <a:p>
            <a:r>
              <a:rPr lang="en-US" dirty="0" smtClean="0"/>
              <a:t>% of homes sold above list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54dda1946d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Google Shape;742;g54dda1946d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Font typeface="Wingdings" panose="05000000000000000000" pitchFamily="2" charset="2"/>
              <a:buNone/>
            </a:pPr>
            <a:r>
              <a:rPr lang="en-US" dirty="0" smtClean="0"/>
              <a:t>Scatter plot</a:t>
            </a:r>
          </a:p>
          <a:p>
            <a:pPr marL="457200" indent="-298450">
              <a:buFont typeface="Wingdings" panose="05000000000000000000" pitchFamily="2" charset="2"/>
              <a:buChar char="Ø"/>
            </a:pPr>
            <a:r>
              <a:rPr lang="en-US" dirty="0" smtClean="0"/>
              <a:t>The downward-sloping regression line indicates a negative relationship between sale-to-list ratio and days on market.</a:t>
            </a:r>
          </a:p>
          <a:p>
            <a:pPr marL="457200" indent="-298450">
              <a:buFont typeface="Wingdings" panose="05000000000000000000" pitchFamily="2" charset="2"/>
              <a:buChar char="Ø"/>
            </a:pPr>
            <a:r>
              <a:rPr lang="en-US" dirty="0" smtClean="0"/>
              <a:t>This means that as homes sell closer to or above their list price, they tend to sell faster.</a:t>
            </a:r>
          </a:p>
          <a:p>
            <a:pPr marL="457200" indent="-298450">
              <a:buFont typeface="Wingdings" panose="05000000000000000000" pitchFamily="2" charset="2"/>
              <a:buChar char="Ø"/>
            </a:pPr>
            <a:r>
              <a:rPr lang="en-US" dirty="0" smtClean="0"/>
              <a:t>The correlation value of −0.216 confirms a moderate but meaningful negative relationship, which is expected in large</a:t>
            </a:r>
            <a:r>
              <a:rPr lang="en-US" baseline="0" dirty="0" smtClean="0"/>
              <a:t> </a:t>
            </a:r>
            <a:r>
              <a:rPr lang="en-US" dirty="0" smtClean="0"/>
              <a:t>housing markets.</a:t>
            </a:r>
          </a:p>
          <a:p>
            <a:pPr marL="158750" indent="0">
              <a:buFont typeface="Wingdings" panose="05000000000000000000" pitchFamily="2" charset="2"/>
              <a:buNone/>
            </a:pPr>
            <a:r>
              <a:rPr lang="en-US" dirty="0" smtClean="0"/>
              <a:t>Box plot</a:t>
            </a:r>
          </a:p>
          <a:p>
            <a:pPr marL="158750" indent="0">
              <a:buFont typeface="Wingdings" panose="05000000000000000000" pitchFamily="2" charset="2"/>
              <a:buNone/>
            </a:pPr>
            <a:r>
              <a:rPr lang="en-US" dirty="0" smtClean="0"/>
              <a:t>Cities with:</a:t>
            </a:r>
          </a:p>
          <a:p>
            <a:pPr marL="457200" indent="-298450">
              <a:buFont typeface="Wingdings" panose="05000000000000000000" pitchFamily="2" charset="2"/>
              <a:buChar char="Ø"/>
            </a:pPr>
            <a:r>
              <a:rPr lang="en-US" b="1" dirty="0" smtClean="0"/>
              <a:t>High sale-to-list</a:t>
            </a:r>
            <a:endParaRPr lang="en-US" dirty="0" smtClean="0"/>
          </a:p>
          <a:p>
            <a:pPr marL="457200" indent="-298450">
              <a:buFont typeface="Wingdings" panose="05000000000000000000" pitchFamily="2" charset="2"/>
              <a:buChar char="Ø"/>
            </a:pPr>
            <a:r>
              <a:rPr lang="en-US" b="1" dirty="0" smtClean="0"/>
              <a:t>High % sold above list</a:t>
            </a:r>
            <a:endParaRPr lang="en-US" dirty="0" smtClean="0"/>
          </a:p>
          <a:p>
            <a:pPr marL="457200" indent="-298450">
              <a:buFont typeface="Wingdings" panose="05000000000000000000" pitchFamily="2" charset="2"/>
              <a:buChar char="Ø"/>
            </a:pPr>
            <a:r>
              <a:rPr lang="en-US" b="1" dirty="0" smtClean="0"/>
              <a:t>Low days on market</a:t>
            </a:r>
            <a:r>
              <a:rPr lang="en-US" b="0" baseline="0" dirty="0" smtClean="0"/>
              <a:t> </a:t>
            </a:r>
            <a:r>
              <a:rPr lang="en-US" dirty="0" smtClean="0"/>
              <a:t>→ were classified as </a:t>
            </a:r>
            <a:r>
              <a:rPr lang="en-US" b="1" dirty="0" smtClean="0"/>
              <a:t>more competitive markets</a:t>
            </a:r>
            <a:r>
              <a:rPr lang="en-US" dirty="0" smtClean="0"/>
              <a:t>.</a:t>
            </a:r>
          </a:p>
          <a:p>
            <a:pPr marL="158750" indent="0">
              <a:buFont typeface="Wingdings" panose="05000000000000000000" pitchFamily="2" charset="2"/>
              <a:buNone/>
            </a:pPr>
            <a:endParaRPr lang="en-US" dirty="0" smtClean="0"/>
          </a:p>
          <a:p>
            <a:pPr marL="457200" indent="-298450">
              <a:buFont typeface="Wingdings" panose="05000000000000000000" pitchFamily="2" charset="2"/>
              <a:buChar char="Ø"/>
            </a:pPr>
            <a:r>
              <a:rPr lang="en-US" dirty="0" smtClean="0"/>
              <a:t>As competitiveness increases, the median days on market consistently decrease.</a:t>
            </a:r>
          </a:p>
          <a:p>
            <a:pPr marL="457200" indent="-298450">
              <a:buFont typeface="Wingdings" panose="05000000000000000000" pitchFamily="2" charset="2"/>
              <a:buChar char="Ø"/>
            </a:pPr>
            <a:r>
              <a:rPr lang="en-US" dirty="0" smtClean="0"/>
              <a:t>While R² is modest, the </a:t>
            </a:r>
            <a:r>
              <a:rPr lang="en-US" b="1" dirty="0" smtClean="0"/>
              <a:t>effect is statistically strong.</a:t>
            </a:r>
          </a:p>
          <a:p>
            <a:pPr marL="457200" indent="-298450">
              <a:buFont typeface="Wingdings" panose="05000000000000000000" pitchFamily="2" charset="2"/>
              <a:buChar char="Ø"/>
            </a:pPr>
            <a:r>
              <a:rPr lang="en-US" b="1" dirty="0" smtClean="0"/>
              <a:t>Conclusion:</a:t>
            </a:r>
            <a:r>
              <a:rPr lang="en-US" dirty="0" smtClean="0"/>
              <a:t> Hypothesis 2 is </a:t>
            </a:r>
            <a:r>
              <a:rPr lang="en-US" b="1" dirty="0" smtClean="0"/>
              <a:t>supported</a:t>
            </a:r>
            <a:r>
              <a:rPr lang="en-US" dirty="0" smtClean="0"/>
              <a:t> - competitiveness plays a meaningful role in market speed.</a:t>
            </a:r>
          </a:p>
          <a:p>
            <a:pPr marL="457200" indent="-298450">
              <a:buFont typeface="Wingdings" panose="05000000000000000000" pitchFamily="2" charset="2"/>
              <a:buChar char="Ø"/>
            </a:pPr>
            <a:endParaRPr lang="en-US" dirty="0" smtClean="0"/>
          </a:p>
          <a:p>
            <a:pPr marL="158750" indent="0">
              <a:buFont typeface="Wingdings" panose="05000000000000000000" pitchFamily="2" charset="2"/>
              <a:buNone/>
            </a:pPr>
            <a:endParaRPr lang="en-US" dirty="0" smtClean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54dda1946d_6_3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2" name="Google Shape;662;g54dda1946d_6_3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 smtClean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This slide evaluates </a:t>
            </a:r>
            <a:r>
              <a:rPr lang="en-US" b="1" dirty="0" smtClean="0"/>
              <a:t>Hypothesis 3</a:t>
            </a:r>
            <a:r>
              <a:rPr lang="en-US" dirty="0" smtClean="0"/>
              <a:t>, which states that cities with stronger demand relative to supply experience higher short-term housing price growth.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To test this, a </a:t>
            </a:r>
            <a:r>
              <a:rPr lang="en-US" b="1" dirty="0" smtClean="0"/>
              <a:t>demand pressure index</a:t>
            </a:r>
            <a:r>
              <a:rPr lang="en-US" dirty="0" smtClean="0"/>
              <a:t> was constructed.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 smtClean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Demand pressure is defined as the sum of </a:t>
            </a:r>
            <a:r>
              <a:rPr lang="en-US" i="1" dirty="0" smtClean="0"/>
              <a:t>pending sales and homes sold</a:t>
            </a:r>
            <a:r>
              <a:rPr lang="en-US" dirty="0" smtClean="0"/>
              <a:t>, divided by </a:t>
            </a:r>
            <a:r>
              <a:rPr lang="en-US" i="1" dirty="0" smtClean="0"/>
              <a:t>available inventory</a:t>
            </a:r>
            <a:r>
              <a:rPr lang="en-US" dirty="0" smtClean="0"/>
              <a:t>.</a:t>
            </a:r>
            <a:br>
              <a:rPr lang="en-US" dirty="0" smtClean="0"/>
            </a:br>
            <a:endParaRPr lang="en-US" dirty="0" smtClean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Two price-change measures were analyzed to capture different time horizons: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 smtClean="0"/>
              <a:t>Month-over-Month (</a:t>
            </a:r>
            <a:r>
              <a:rPr lang="en-US" b="1" dirty="0" err="1" smtClean="0"/>
              <a:t>MoM</a:t>
            </a:r>
            <a:r>
              <a:rPr lang="en-US" b="1" dirty="0" smtClean="0"/>
              <a:t>) change</a:t>
            </a:r>
            <a:r>
              <a:rPr lang="en-US" dirty="0" smtClean="0"/>
              <a:t>, reflecting short-term price movement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 smtClean="0"/>
              <a:t>Year-over-Year (YoY) change</a:t>
            </a:r>
            <a:r>
              <a:rPr lang="en-US" dirty="0" smtClean="0"/>
              <a:t>, reflecting longer-term price growth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 smtClean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This</a:t>
            </a:r>
            <a:r>
              <a:rPr lang="en-US" baseline="0" dirty="0" smtClean="0"/>
              <a:t> </a:t>
            </a:r>
            <a:r>
              <a:rPr lang="en-US" dirty="0" smtClean="0"/>
              <a:t>scatter plot shows demand pressure plotted against average </a:t>
            </a:r>
            <a:r>
              <a:rPr lang="en-US" b="1" dirty="0" smtClean="0"/>
              <a:t>month-over-month sale price change</a:t>
            </a:r>
            <a:r>
              <a:rPr lang="en-US" dirty="0" smtClean="0"/>
              <a:t> at the city level.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The points are heavily concentrated around zero price change, and the regression line is nearly flat.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Although slightly smoother than the </a:t>
            </a:r>
            <a:r>
              <a:rPr lang="en-US" dirty="0" err="1" smtClean="0"/>
              <a:t>MoM</a:t>
            </a:r>
            <a:r>
              <a:rPr lang="en-US" dirty="0" smtClean="0"/>
              <a:t> results, the relationship remains very weak.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This indicates that </a:t>
            </a:r>
            <a:r>
              <a:rPr lang="en-US" b="1" dirty="0" smtClean="0"/>
              <a:t>price growth over one year is not directly explained by demand pressure alone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endParaRPr lang="en-US" dirty="0" smtClean="0"/>
          </a:p>
          <a:p>
            <a:pPr marL="158750" indent="0">
              <a:buNone/>
            </a:pPr>
            <a:endParaRPr lang="en-US" dirty="0" smtClean="0"/>
          </a:p>
          <a:p>
            <a:pPr marL="158750" indent="0">
              <a:buNone/>
            </a:pPr>
            <a:endParaRPr lang="en-US" dirty="0" smtClean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After outlier cleaning at the city level, a </a:t>
            </a:r>
            <a:r>
              <a:rPr lang="en-US" b="1" dirty="0" smtClean="0"/>
              <a:t>weak positive relationship</a:t>
            </a:r>
            <a:r>
              <a:rPr lang="en-US" dirty="0" smtClean="0"/>
              <a:t> is observed between demand pressure and year-over-year price growth.</a:t>
            </a:r>
          </a:p>
          <a:p>
            <a:r>
              <a:rPr lang="en-US" dirty="0" smtClean="0"/>
              <a:t>The correlation is </a:t>
            </a:r>
            <a:r>
              <a:rPr lang="en-US" b="1" dirty="0" smtClean="0"/>
              <a:t>+0.035</a:t>
            </a:r>
            <a:r>
              <a:rPr lang="en-US" dirty="0" smtClean="0"/>
              <a:t>, and the regression coefficient is </a:t>
            </a:r>
            <a:r>
              <a:rPr lang="en-US" b="1" dirty="0" smtClean="0"/>
              <a:t>+0.016</a:t>
            </a:r>
            <a:r>
              <a:rPr lang="en-US" dirty="0" smtClean="0"/>
              <a:t>, indicating that higher demand pressure is associated with slightly higher price growth.</a:t>
            </a:r>
            <a:br>
              <a:rPr lang="en-US" dirty="0" smtClean="0"/>
            </a:br>
            <a:r>
              <a:rPr lang="en-US" dirty="0" smtClean="0"/>
              <a:t>This relationship is </a:t>
            </a:r>
            <a:r>
              <a:rPr lang="en-US" b="1" dirty="0" smtClean="0"/>
              <a:t>statistically significant</a:t>
            </a:r>
            <a:r>
              <a:rPr lang="en-US" dirty="0" smtClean="0"/>
              <a:t>, but the effect size is very small.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Hypothesis 3 is </a:t>
            </a:r>
            <a:r>
              <a:rPr lang="en-US" b="1" dirty="0" smtClean="0"/>
              <a:t>weakly supported</a:t>
            </a:r>
            <a:r>
              <a:rPr lang="en-US" dirty="0" smtClean="0"/>
              <a:t>. Demand pressure influences prices, but other factors dominate housing price changes.</a:t>
            </a: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713225" y="2384250"/>
            <a:ext cx="4344300" cy="91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713225" y="1468350"/>
            <a:ext cx="1264200" cy="915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713225" y="3300150"/>
            <a:ext cx="43443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3862975" y="1655500"/>
            <a:ext cx="4567800" cy="116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 sz="6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ubTitle" idx="1"/>
          </p:nvPr>
        </p:nvSpPr>
        <p:spPr>
          <a:xfrm>
            <a:off x="3862975" y="2816925"/>
            <a:ext cx="45678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oogle Shape;155;p19"/>
          <p:cNvGrpSpPr/>
          <p:nvPr/>
        </p:nvGrpSpPr>
        <p:grpSpPr>
          <a:xfrm>
            <a:off x="-145083" y="-503840"/>
            <a:ext cx="9434170" cy="6151188"/>
            <a:chOff x="-145083" y="-503840"/>
            <a:chExt cx="9434170" cy="6151188"/>
          </a:xfrm>
        </p:grpSpPr>
        <p:sp>
          <p:nvSpPr>
            <p:cNvPr id="156" name="Google Shape;156;p19"/>
            <p:cNvSpPr/>
            <p:nvPr/>
          </p:nvSpPr>
          <p:spPr>
            <a:xfrm rot="10800000" flipH="1">
              <a:off x="534577" y="467922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19"/>
            <p:cNvSpPr/>
            <p:nvPr/>
          </p:nvSpPr>
          <p:spPr>
            <a:xfrm>
              <a:off x="-145073" y="392401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19"/>
            <p:cNvSpPr/>
            <p:nvPr/>
          </p:nvSpPr>
          <p:spPr>
            <a:xfrm>
              <a:off x="-145083" y="441982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19"/>
            <p:cNvSpPr/>
            <p:nvPr/>
          </p:nvSpPr>
          <p:spPr>
            <a:xfrm flipH="1">
              <a:off x="8430777" y="464432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19"/>
            <p:cNvSpPr/>
            <p:nvPr/>
          </p:nvSpPr>
          <p:spPr>
            <a:xfrm rot="10800000" flipH="1">
              <a:off x="-125483" y="-42861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19"/>
            <p:cNvSpPr/>
            <p:nvPr/>
          </p:nvSpPr>
          <p:spPr>
            <a:xfrm flipH="1">
              <a:off x="7770717" y="-50384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19"/>
            <p:cNvSpPr/>
            <p:nvPr/>
          </p:nvSpPr>
          <p:spPr>
            <a:xfrm rot="10800000">
              <a:off x="8450367" y="25137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19"/>
            <p:cNvSpPr/>
            <p:nvPr/>
          </p:nvSpPr>
          <p:spPr>
            <a:xfrm rot="10800000">
              <a:off x="8450377" y="-24444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4" name="Google Shape;164;p19"/>
          <p:cNvSpPr txBox="1">
            <a:spLocks noGrp="1"/>
          </p:cNvSpPr>
          <p:nvPr>
            <p:ph type="title"/>
          </p:nvPr>
        </p:nvSpPr>
        <p:spPr>
          <a:xfrm>
            <a:off x="720000" y="1270313"/>
            <a:ext cx="3777300" cy="170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19"/>
          <p:cNvSpPr txBox="1">
            <a:spLocks noGrp="1"/>
          </p:cNvSpPr>
          <p:nvPr>
            <p:ph type="subTitle" idx="1"/>
          </p:nvPr>
        </p:nvSpPr>
        <p:spPr>
          <a:xfrm>
            <a:off x="720000" y="2979813"/>
            <a:ext cx="3777300" cy="89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19"/>
          <p:cNvSpPr>
            <a:spLocks noGrp="1"/>
          </p:cNvSpPr>
          <p:nvPr>
            <p:ph type="pic" idx="2"/>
          </p:nvPr>
        </p:nvSpPr>
        <p:spPr>
          <a:xfrm>
            <a:off x="5121925" y="1060325"/>
            <a:ext cx="3109200" cy="31092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" name="Google Shape;168;p20"/>
          <p:cNvGrpSpPr/>
          <p:nvPr/>
        </p:nvGrpSpPr>
        <p:grpSpPr>
          <a:xfrm>
            <a:off x="-247298" y="-446215"/>
            <a:ext cx="9638600" cy="6030088"/>
            <a:chOff x="-247298" y="-446215"/>
            <a:chExt cx="9638600" cy="6030088"/>
          </a:xfrm>
        </p:grpSpPr>
        <p:sp>
          <p:nvSpPr>
            <p:cNvPr id="169" name="Google Shape;169;p20"/>
            <p:cNvSpPr/>
            <p:nvPr/>
          </p:nvSpPr>
          <p:spPr>
            <a:xfrm>
              <a:off x="-125473" y="44532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20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20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20"/>
            <p:cNvSpPr/>
            <p:nvPr/>
          </p:nvSpPr>
          <p:spPr>
            <a:xfrm rot="10800000" flipH="1">
              <a:off x="-247298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20"/>
            <p:cNvSpPr/>
            <p:nvPr/>
          </p:nvSpPr>
          <p:spPr>
            <a:xfrm rot="10800000" flipH="1">
              <a:off x="293542" y="-44621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20"/>
            <p:cNvSpPr/>
            <p:nvPr/>
          </p:nvSpPr>
          <p:spPr>
            <a:xfrm rot="10800000">
              <a:off x="8430767" y="-40422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20"/>
            <p:cNvSpPr/>
            <p:nvPr/>
          </p:nvSpPr>
          <p:spPr>
            <a:xfrm>
              <a:off x="-125483" y="39965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20"/>
            <p:cNvSpPr/>
            <p:nvPr/>
          </p:nvSpPr>
          <p:spPr>
            <a:xfrm>
              <a:off x="8430767" y="46839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7" name="Google Shape;177;p20"/>
          <p:cNvSpPr txBox="1">
            <a:spLocks noGrp="1"/>
          </p:cNvSpPr>
          <p:nvPr>
            <p:ph type="title"/>
          </p:nvPr>
        </p:nvSpPr>
        <p:spPr>
          <a:xfrm>
            <a:off x="720000" y="1637550"/>
            <a:ext cx="3597900" cy="106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20"/>
          <p:cNvSpPr txBox="1">
            <a:spLocks noGrp="1"/>
          </p:cNvSpPr>
          <p:nvPr>
            <p:ph type="subTitle" idx="1"/>
          </p:nvPr>
        </p:nvSpPr>
        <p:spPr>
          <a:xfrm>
            <a:off x="720000" y="2700750"/>
            <a:ext cx="3597900" cy="8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" name="Google Shape;216;p24"/>
          <p:cNvGrpSpPr/>
          <p:nvPr/>
        </p:nvGrpSpPr>
        <p:grpSpPr>
          <a:xfrm>
            <a:off x="-310473" y="3500727"/>
            <a:ext cx="9764950" cy="2327954"/>
            <a:chOff x="-310473" y="3500727"/>
            <a:chExt cx="9764950" cy="2327954"/>
          </a:xfrm>
        </p:grpSpPr>
        <p:sp>
          <p:nvSpPr>
            <p:cNvPr id="217" name="Google Shape;217;p24"/>
            <p:cNvSpPr/>
            <p:nvPr/>
          </p:nvSpPr>
          <p:spPr>
            <a:xfrm rot="10800000" flipH="1">
              <a:off x="927364" y="463002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24"/>
            <p:cNvSpPr/>
            <p:nvPr/>
          </p:nvSpPr>
          <p:spPr>
            <a:xfrm rot="10800000" flipH="1">
              <a:off x="273054" y="486056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24"/>
            <p:cNvSpPr/>
            <p:nvPr/>
          </p:nvSpPr>
          <p:spPr>
            <a:xfrm>
              <a:off x="-310473" y="399631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24"/>
            <p:cNvSpPr/>
            <p:nvPr/>
          </p:nvSpPr>
          <p:spPr>
            <a:xfrm>
              <a:off x="-125483" y="350072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24"/>
            <p:cNvSpPr/>
            <p:nvPr/>
          </p:nvSpPr>
          <p:spPr>
            <a:xfrm flipH="1">
              <a:off x="8615767" y="399631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24"/>
            <p:cNvSpPr/>
            <p:nvPr/>
          </p:nvSpPr>
          <p:spPr>
            <a:xfrm flipH="1">
              <a:off x="8424002" y="350072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24"/>
            <p:cNvSpPr/>
            <p:nvPr/>
          </p:nvSpPr>
          <p:spPr>
            <a:xfrm rot="10800000">
              <a:off x="7377929" y="463002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24"/>
            <p:cNvSpPr/>
            <p:nvPr/>
          </p:nvSpPr>
          <p:spPr>
            <a:xfrm rot="10800000">
              <a:off x="8032239" y="486056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5" name="Google Shape;225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p24"/>
          <p:cNvSpPr txBox="1">
            <a:spLocks noGrp="1"/>
          </p:cNvSpPr>
          <p:nvPr>
            <p:ph type="subTitle" idx="1"/>
          </p:nvPr>
        </p:nvSpPr>
        <p:spPr>
          <a:xfrm>
            <a:off x="4821081" y="2782975"/>
            <a:ext cx="2844000" cy="11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7" name="Google Shape;227;p24"/>
          <p:cNvSpPr txBox="1">
            <a:spLocks noGrp="1"/>
          </p:cNvSpPr>
          <p:nvPr>
            <p:ph type="subTitle" idx="2"/>
          </p:nvPr>
        </p:nvSpPr>
        <p:spPr>
          <a:xfrm>
            <a:off x="1478950" y="2782975"/>
            <a:ext cx="2844000" cy="11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8" name="Google Shape;228;p24"/>
          <p:cNvSpPr txBox="1">
            <a:spLocks noGrp="1"/>
          </p:cNvSpPr>
          <p:nvPr>
            <p:ph type="subTitle" idx="3"/>
          </p:nvPr>
        </p:nvSpPr>
        <p:spPr>
          <a:xfrm>
            <a:off x="1478950" y="2370625"/>
            <a:ext cx="28440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29" name="Google Shape;229;p24"/>
          <p:cNvSpPr txBox="1">
            <a:spLocks noGrp="1"/>
          </p:cNvSpPr>
          <p:nvPr>
            <p:ph type="subTitle" idx="4"/>
          </p:nvPr>
        </p:nvSpPr>
        <p:spPr>
          <a:xfrm>
            <a:off x="4821091" y="2370625"/>
            <a:ext cx="28440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1" name="Google Shape;231;p25"/>
          <p:cNvGrpSpPr/>
          <p:nvPr/>
        </p:nvGrpSpPr>
        <p:grpSpPr>
          <a:xfrm>
            <a:off x="-655296" y="3436585"/>
            <a:ext cx="10454595" cy="2311221"/>
            <a:chOff x="-655296" y="3436585"/>
            <a:chExt cx="10454595" cy="2311221"/>
          </a:xfrm>
        </p:grpSpPr>
        <p:sp>
          <p:nvSpPr>
            <p:cNvPr id="232" name="Google Shape;232;p25"/>
            <p:cNvSpPr/>
            <p:nvPr/>
          </p:nvSpPr>
          <p:spPr>
            <a:xfrm rot="10800000" flipH="1">
              <a:off x="-136836" y="343658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25"/>
            <p:cNvSpPr/>
            <p:nvPr/>
          </p:nvSpPr>
          <p:spPr>
            <a:xfrm>
              <a:off x="183414" y="454091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25"/>
            <p:cNvSpPr/>
            <p:nvPr/>
          </p:nvSpPr>
          <p:spPr>
            <a:xfrm rot="10800000" flipH="1">
              <a:off x="-655296" y="390306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25"/>
            <p:cNvSpPr/>
            <p:nvPr/>
          </p:nvSpPr>
          <p:spPr>
            <a:xfrm rot="10800000">
              <a:off x="8442129" y="343658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25"/>
            <p:cNvSpPr/>
            <p:nvPr/>
          </p:nvSpPr>
          <p:spPr>
            <a:xfrm flipH="1">
              <a:off x="8121879" y="454091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25"/>
            <p:cNvSpPr/>
            <p:nvPr/>
          </p:nvSpPr>
          <p:spPr>
            <a:xfrm rot="10800000">
              <a:off x="8960589" y="390306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25"/>
            <p:cNvSpPr/>
            <p:nvPr/>
          </p:nvSpPr>
          <p:spPr>
            <a:xfrm rot="10800000">
              <a:off x="7718714" y="477968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25"/>
            <p:cNvSpPr/>
            <p:nvPr/>
          </p:nvSpPr>
          <p:spPr>
            <a:xfrm rot="10800000">
              <a:off x="586589" y="477968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0" name="Google Shape;240;p2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41" name="Google Shape;241;p25"/>
          <p:cNvSpPr txBox="1">
            <a:spLocks noGrp="1"/>
          </p:cNvSpPr>
          <p:nvPr>
            <p:ph type="subTitle" idx="1"/>
          </p:nvPr>
        </p:nvSpPr>
        <p:spPr>
          <a:xfrm>
            <a:off x="4646250" y="1667625"/>
            <a:ext cx="3398400" cy="18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2" name="Google Shape;242;p25"/>
          <p:cNvSpPr txBox="1">
            <a:spLocks noGrp="1"/>
          </p:cNvSpPr>
          <p:nvPr>
            <p:ph type="subTitle" idx="2"/>
          </p:nvPr>
        </p:nvSpPr>
        <p:spPr>
          <a:xfrm>
            <a:off x="1099338" y="1667625"/>
            <a:ext cx="3398400" cy="18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4" name="Google Shape;244;p26"/>
          <p:cNvGrpSpPr/>
          <p:nvPr/>
        </p:nvGrpSpPr>
        <p:grpSpPr>
          <a:xfrm>
            <a:off x="-512036" y="-358023"/>
            <a:ext cx="10169413" cy="5930154"/>
            <a:chOff x="-512036" y="-358023"/>
            <a:chExt cx="10169413" cy="5930154"/>
          </a:xfrm>
        </p:grpSpPr>
        <p:sp>
          <p:nvSpPr>
            <p:cNvPr id="245" name="Google Shape;245;p26"/>
            <p:cNvSpPr/>
            <p:nvPr/>
          </p:nvSpPr>
          <p:spPr>
            <a:xfrm flipH="1">
              <a:off x="8430767" y="40742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26"/>
            <p:cNvSpPr/>
            <p:nvPr/>
          </p:nvSpPr>
          <p:spPr>
            <a:xfrm rot="10800000">
              <a:off x="8818667" y="182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26"/>
            <p:cNvSpPr/>
            <p:nvPr/>
          </p:nvSpPr>
          <p:spPr>
            <a:xfrm rot="10800000">
              <a:off x="8011414" y="460401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26"/>
            <p:cNvSpPr/>
            <p:nvPr/>
          </p:nvSpPr>
          <p:spPr>
            <a:xfrm flipH="1">
              <a:off x="8430777" y="-35802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26"/>
            <p:cNvSpPr/>
            <p:nvPr/>
          </p:nvSpPr>
          <p:spPr>
            <a:xfrm>
              <a:off x="-124136" y="40742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26"/>
            <p:cNvSpPr/>
            <p:nvPr/>
          </p:nvSpPr>
          <p:spPr>
            <a:xfrm rot="10800000" flipH="1">
              <a:off x="-512036" y="182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26"/>
            <p:cNvSpPr/>
            <p:nvPr/>
          </p:nvSpPr>
          <p:spPr>
            <a:xfrm rot="10800000" flipH="1">
              <a:off x="295217" y="460401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26"/>
            <p:cNvSpPr/>
            <p:nvPr/>
          </p:nvSpPr>
          <p:spPr>
            <a:xfrm>
              <a:off x="-124133" y="-35802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3" name="Google Shape;253;p2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54" name="Google Shape;254;p26"/>
          <p:cNvSpPr txBox="1">
            <a:spLocks noGrp="1"/>
          </p:cNvSpPr>
          <p:nvPr>
            <p:ph type="subTitle" idx="1"/>
          </p:nvPr>
        </p:nvSpPr>
        <p:spPr>
          <a:xfrm>
            <a:off x="881225" y="2768751"/>
            <a:ext cx="2288100" cy="8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5" name="Google Shape;255;p26"/>
          <p:cNvSpPr txBox="1">
            <a:spLocks noGrp="1"/>
          </p:cNvSpPr>
          <p:nvPr>
            <p:ph type="subTitle" idx="2"/>
          </p:nvPr>
        </p:nvSpPr>
        <p:spPr>
          <a:xfrm>
            <a:off x="3427950" y="2768751"/>
            <a:ext cx="2288100" cy="8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6" name="Google Shape;256;p26"/>
          <p:cNvSpPr txBox="1">
            <a:spLocks noGrp="1"/>
          </p:cNvSpPr>
          <p:nvPr>
            <p:ph type="subTitle" idx="3"/>
          </p:nvPr>
        </p:nvSpPr>
        <p:spPr>
          <a:xfrm>
            <a:off x="5974700" y="2768751"/>
            <a:ext cx="2288100" cy="8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7" name="Google Shape;257;p26"/>
          <p:cNvSpPr txBox="1">
            <a:spLocks noGrp="1"/>
          </p:cNvSpPr>
          <p:nvPr>
            <p:ph type="subTitle" idx="4"/>
          </p:nvPr>
        </p:nvSpPr>
        <p:spPr>
          <a:xfrm>
            <a:off x="881225" y="2250275"/>
            <a:ext cx="2288100" cy="6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58" name="Google Shape;258;p26"/>
          <p:cNvSpPr txBox="1">
            <a:spLocks noGrp="1"/>
          </p:cNvSpPr>
          <p:nvPr>
            <p:ph type="subTitle" idx="5"/>
          </p:nvPr>
        </p:nvSpPr>
        <p:spPr>
          <a:xfrm>
            <a:off x="3427954" y="2250275"/>
            <a:ext cx="2288100" cy="6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59" name="Google Shape;259;p26"/>
          <p:cNvSpPr txBox="1">
            <a:spLocks noGrp="1"/>
          </p:cNvSpPr>
          <p:nvPr>
            <p:ph type="subTitle" idx="6"/>
          </p:nvPr>
        </p:nvSpPr>
        <p:spPr>
          <a:xfrm>
            <a:off x="5974700" y="2250275"/>
            <a:ext cx="2288100" cy="6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4" name="Google Shape;314;p31"/>
          <p:cNvGrpSpPr/>
          <p:nvPr/>
        </p:nvGrpSpPr>
        <p:grpSpPr>
          <a:xfrm>
            <a:off x="-247298" y="-446215"/>
            <a:ext cx="9638610" cy="6030088"/>
            <a:chOff x="-247298" y="-446215"/>
            <a:chExt cx="9638610" cy="6030088"/>
          </a:xfrm>
        </p:grpSpPr>
        <p:sp>
          <p:nvSpPr>
            <p:cNvPr id="315" name="Google Shape;315;p31"/>
            <p:cNvSpPr/>
            <p:nvPr/>
          </p:nvSpPr>
          <p:spPr>
            <a:xfrm>
              <a:off x="-125573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31"/>
            <p:cNvSpPr/>
            <p:nvPr/>
          </p:nvSpPr>
          <p:spPr>
            <a:xfrm>
              <a:off x="-125583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31"/>
            <p:cNvSpPr/>
            <p:nvPr/>
          </p:nvSpPr>
          <p:spPr>
            <a:xfrm rot="10800000" flipH="1">
              <a:off x="-247298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31"/>
            <p:cNvSpPr/>
            <p:nvPr/>
          </p:nvSpPr>
          <p:spPr>
            <a:xfrm rot="10800000" flipH="1">
              <a:off x="346967" y="-44621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31"/>
            <p:cNvSpPr/>
            <p:nvPr/>
          </p:nvSpPr>
          <p:spPr>
            <a:xfrm rot="10800000">
              <a:off x="7958317" y="-42862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31"/>
            <p:cNvSpPr/>
            <p:nvPr/>
          </p:nvSpPr>
          <p:spPr>
            <a:xfrm rot="10800000">
              <a:off x="8552602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31"/>
            <p:cNvSpPr/>
            <p:nvPr/>
          </p:nvSpPr>
          <p:spPr>
            <a:xfrm>
              <a:off x="8430777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31"/>
            <p:cNvSpPr/>
            <p:nvPr/>
          </p:nvSpPr>
          <p:spPr>
            <a:xfrm>
              <a:off x="8430767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4" name="Google Shape;324;p32"/>
          <p:cNvGrpSpPr/>
          <p:nvPr/>
        </p:nvGrpSpPr>
        <p:grpSpPr>
          <a:xfrm>
            <a:off x="-476796" y="2900252"/>
            <a:ext cx="10097585" cy="2865204"/>
            <a:chOff x="-476796" y="2900252"/>
            <a:chExt cx="10097585" cy="2865204"/>
          </a:xfrm>
        </p:grpSpPr>
        <p:grpSp>
          <p:nvGrpSpPr>
            <p:cNvPr id="325" name="Google Shape;325;p32"/>
            <p:cNvGrpSpPr/>
            <p:nvPr/>
          </p:nvGrpSpPr>
          <p:grpSpPr>
            <a:xfrm>
              <a:off x="-476796" y="2900252"/>
              <a:ext cx="10097585" cy="2865204"/>
              <a:chOff x="-476796" y="2900252"/>
              <a:chExt cx="10097585" cy="2865204"/>
            </a:xfrm>
          </p:grpSpPr>
          <p:sp>
            <p:nvSpPr>
              <p:cNvPr id="326" name="Google Shape;326;p32"/>
              <p:cNvSpPr/>
              <p:nvPr/>
            </p:nvSpPr>
            <p:spPr>
              <a:xfrm rot="10800000" flipH="1">
                <a:off x="-266661" y="2900252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Google Shape;327;p32"/>
              <p:cNvSpPr/>
              <p:nvPr/>
            </p:nvSpPr>
            <p:spPr>
              <a:xfrm>
                <a:off x="-90736" y="4425247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dk2"/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Google Shape;328;p32"/>
              <p:cNvSpPr/>
              <p:nvPr/>
            </p:nvSpPr>
            <p:spPr>
              <a:xfrm>
                <a:off x="-476796" y="3522814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AFC7FF">
                  <a:alpha val="25000"/>
                </a:srgbClr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Google Shape;329;p32"/>
              <p:cNvSpPr/>
              <p:nvPr/>
            </p:nvSpPr>
            <p:spPr>
              <a:xfrm rot="10800000">
                <a:off x="8571944" y="2900252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Google Shape;330;p32"/>
              <p:cNvSpPr/>
              <p:nvPr/>
            </p:nvSpPr>
            <p:spPr>
              <a:xfrm flipH="1">
                <a:off x="8396019" y="4425247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Google Shape;331;p32"/>
              <p:cNvSpPr/>
              <p:nvPr/>
            </p:nvSpPr>
            <p:spPr>
              <a:xfrm flipH="1">
                <a:off x="8782079" y="3522814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9FCBFD">
                  <a:alpha val="41140"/>
                </a:srgbClr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Google Shape;332;p32"/>
              <p:cNvSpPr/>
              <p:nvPr/>
            </p:nvSpPr>
            <p:spPr>
              <a:xfrm rot="10800000">
                <a:off x="8009979" y="4797335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68DAF8">
                  <a:alpha val="34180"/>
                </a:srgbClr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33" name="Google Shape;333;p32"/>
            <p:cNvSpPr/>
            <p:nvPr/>
          </p:nvSpPr>
          <p:spPr>
            <a:xfrm rot="10800000" flipH="1">
              <a:off x="293867" y="47973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"/>
              <a:buNone/>
              <a:defRPr sz="35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58" r:id="rId3"/>
    <p:sldLayoutId id="2147483665" r:id="rId4"/>
    <p:sldLayoutId id="2147483666" r:id="rId5"/>
    <p:sldLayoutId id="2147483670" r:id="rId6"/>
    <p:sldLayoutId id="2147483671" r:id="rId7"/>
    <p:sldLayoutId id="2147483672" r:id="rId8"/>
    <p:sldLayoutId id="2147483677" r:id="rId9"/>
    <p:sldLayoutId id="2147483678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44"/>
          <p:cNvSpPr txBox="1">
            <a:spLocks noGrp="1"/>
          </p:cNvSpPr>
          <p:nvPr>
            <p:ph type="title"/>
          </p:nvPr>
        </p:nvSpPr>
        <p:spPr>
          <a:xfrm>
            <a:off x="0" y="88471"/>
            <a:ext cx="897583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 smtClean="0"/>
              <a:t>Dataset Overview - US Housing Market</a:t>
            </a:r>
            <a:br>
              <a:rPr lang="en-IN" dirty="0" smtClean="0"/>
            </a:br>
            <a:endParaRPr dirty="0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9420" y="809670"/>
            <a:ext cx="5867400" cy="266646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13360" y="1103031"/>
            <a:ext cx="2560320" cy="1831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100" dirty="0">
                <a:latin typeface="Outfit" panose="020B0604020202020204" charset="0"/>
              </a:rPr>
              <a:t>831,771 rows, 58 variables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100" dirty="0">
                <a:latin typeface="Outfit" panose="020B0604020202020204" charset="0"/>
              </a:rPr>
              <a:t>Data includes city-level housing metrics collected monthly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100" dirty="0">
                <a:latin typeface="Outfit" panose="020B0604020202020204" charset="0"/>
              </a:rPr>
              <a:t>Covers prices, inventory, sales, competitiveness, and market timing</a:t>
            </a:r>
          </a:p>
          <a:p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213360" y="3253919"/>
            <a:ext cx="76047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dk1"/>
                </a:solidFill>
                <a:latin typeface="Outfit"/>
                <a:ea typeface="Outfit"/>
                <a:cs typeface="Outfit"/>
              </a:rPr>
              <a:t>Key </a:t>
            </a:r>
            <a:r>
              <a:rPr lang="en-IN" b="1" dirty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Findings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3360" y="3561696"/>
            <a:ext cx="8488680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 fontAlgn="ctr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100" b="1" dirty="0">
                <a:solidFill>
                  <a:schemeClr val="dk1"/>
                </a:solidFill>
                <a:latin typeface="Outfit"/>
                <a:ea typeface="Outfit"/>
                <a:cs typeface="Outfit"/>
              </a:rPr>
              <a:t>The median list price and median sale price exhibit</a:t>
            </a:r>
            <a:r>
              <a:rPr lang="en-IN" sz="1100" b="1" dirty="0">
                <a:solidFill>
                  <a:schemeClr val="dk1"/>
                </a:solidFill>
                <a:latin typeface="Outfit"/>
                <a:ea typeface="Outfit"/>
                <a:cs typeface="Outfit"/>
              </a:rPr>
              <a:t> </a:t>
            </a:r>
            <a:r>
              <a:rPr lang="en-IN" sz="1100" dirty="0">
                <a:latin typeface="Outfit" panose="020B0604020202020204" charset="0"/>
              </a:rPr>
              <a:t>a strong positive correlation (0.60), indicating that </a:t>
            </a:r>
            <a:r>
              <a:rPr lang="en-IN" sz="1100" dirty="0" smtClean="0">
                <a:latin typeface="Outfit" panose="020B0604020202020204" charset="0"/>
              </a:rPr>
              <a:t>higher - priced </a:t>
            </a:r>
            <a:r>
              <a:rPr lang="en-IN" sz="1100" dirty="0">
                <a:latin typeface="Outfit" panose="020B0604020202020204" charset="0"/>
              </a:rPr>
              <a:t>cities tend to sell homes at higher prices as well.</a:t>
            </a:r>
          </a:p>
          <a:p>
            <a:pPr marL="171450" indent="-171450" algn="just" fontAlgn="ctr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100" b="1" dirty="0">
                <a:solidFill>
                  <a:schemeClr val="dk1"/>
                </a:solidFill>
                <a:latin typeface="Outfit"/>
                <a:ea typeface="Outfit"/>
                <a:cs typeface="Outfit"/>
              </a:rPr>
              <a:t>Market competitiveness variables </a:t>
            </a:r>
            <a:r>
              <a:rPr lang="en-IN" sz="1100" dirty="0">
                <a:latin typeface="Outfit" panose="020B0604020202020204" charset="0"/>
              </a:rPr>
              <a:t>(average </a:t>
            </a:r>
            <a:r>
              <a:rPr lang="en-IN" sz="1100" dirty="0" err="1" smtClean="0">
                <a:latin typeface="Outfit" panose="020B0604020202020204" charset="0"/>
              </a:rPr>
              <a:t>sale_to</a:t>
            </a:r>
            <a:r>
              <a:rPr lang="en-IN" sz="1100" dirty="0" err="1">
                <a:latin typeface="Outfit" panose="020B0604020202020204" charset="0"/>
              </a:rPr>
              <a:t>_</a:t>
            </a:r>
            <a:r>
              <a:rPr lang="en-IN" sz="1100" dirty="0" err="1" smtClean="0">
                <a:latin typeface="Outfit" panose="020B0604020202020204" charset="0"/>
              </a:rPr>
              <a:t>list</a:t>
            </a:r>
            <a:r>
              <a:rPr lang="en-IN" sz="1100" dirty="0" smtClean="0">
                <a:latin typeface="Outfit" panose="020B0604020202020204" charset="0"/>
              </a:rPr>
              <a:t> </a:t>
            </a:r>
            <a:r>
              <a:rPr lang="en-IN" sz="1100" dirty="0">
                <a:latin typeface="Outfit" panose="020B0604020202020204" charset="0"/>
              </a:rPr>
              <a:t>ratio and </a:t>
            </a:r>
            <a:r>
              <a:rPr lang="en-IN" sz="1100" dirty="0" err="1" smtClean="0">
                <a:latin typeface="Outfit" panose="020B0604020202020204" charset="0"/>
              </a:rPr>
              <a:t>sold_above</a:t>
            </a:r>
            <a:r>
              <a:rPr lang="en-IN" sz="1100" dirty="0" err="1">
                <a:latin typeface="Outfit" panose="020B0604020202020204" charset="0"/>
              </a:rPr>
              <a:t>_</a:t>
            </a:r>
            <a:r>
              <a:rPr lang="en-IN" sz="1100" dirty="0" err="1" smtClean="0">
                <a:latin typeface="Outfit" panose="020B0604020202020204" charset="0"/>
              </a:rPr>
              <a:t>list</a:t>
            </a:r>
            <a:r>
              <a:rPr lang="en-IN" sz="1100" dirty="0">
                <a:latin typeface="Outfit" panose="020B0604020202020204" charset="0"/>
              </a:rPr>
              <a:t>) are strongly correlated with each other (~0.61</a:t>
            </a:r>
            <a:r>
              <a:rPr lang="en-IN" sz="1100" dirty="0" smtClean="0">
                <a:latin typeface="Outfit" panose="020B0604020202020204" charset="0"/>
              </a:rPr>
              <a:t>). </a:t>
            </a:r>
          </a:p>
          <a:p>
            <a:pPr marL="171450" indent="-171450" algn="just" fontAlgn="ctr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100" b="1" dirty="0" smtClean="0">
                <a:solidFill>
                  <a:schemeClr val="dk1"/>
                </a:solidFill>
                <a:latin typeface="Outfit"/>
                <a:ea typeface="Outfit"/>
                <a:cs typeface="Outfit"/>
              </a:rPr>
              <a:t>Supply - related </a:t>
            </a:r>
            <a:r>
              <a:rPr lang="en-IN" sz="1100" b="1" dirty="0">
                <a:solidFill>
                  <a:schemeClr val="dk1"/>
                </a:solidFill>
                <a:latin typeface="Outfit"/>
                <a:ea typeface="Outfit"/>
                <a:cs typeface="Outfit"/>
              </a:rPr>
              <a:t>variables </a:t>
            </a:r>
            <a:r>
              <a:rPr lang="en-IN" sz="1100" dirty="0">
                <a:latin typeface="Outfit" panose="020B0604020202020204" charset="0"/>
              </a:rPr>
              <a:t>(inventory, new listings, homes sold) are highly correlated among themselves (&gt;0.90</a:t>
            </a:r>
            <a:r>
              <a:rPr lang="en-IN" sz="1100" dirty="0" smtClean="0">
                <a:latin typeface="Outfit" panose="020B0604020202020204" charset="0"/>
              </a:rPr>
              <a:t>).</a:t>
            </a:r>
            <a:endParaRPr lang="en-IN" sz="1100" dirty="0">
              <a:latin typeface="Outfit" panose="020B0604020202020204" charset="0"/>
            </a:endParaRPr>
          </a:p>
          <a:p>
            <a:endParaRPr lang="en-IN" sz="1100" dirty="0"/>
          </a:p>
        </p:txBody>
      </p:sp>
      <p:sp>
        <p:nvSpPr>
          <p:cNvPr id="2" name="TextBox 1"/>
          <p:cNvSpPr txBox="1"/>
          <p:nvPr/>
        </p:nvSpPr>
        <p:spPr>
          <a:xfrm>
            <a:off x="6074979" y="4687466"/>
            <a:ext cx="38123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dirty="0">
                <a:latin typeface="Outfit" panose="020B0604020202020204" charset="0"/>
              </a:rPr>
              <a:t>Done and presented by:</a:t>
            </a:r>
          </a:p>
          <a:p>
            <a:pPr lvl="0"/>
            <a:r>
              <a:rPr lang="en-US" sz="1200" dirty="0">
                <a:latin typeface="Outfit" panose="020B0604020202020204" charset="0"/>
              </a:rPr>
              <a:t>Pavithra Lakshmi </a:t>
            </a:r>
            <a:r>
              <a:rPr lang="en-US" sz="1200" dirty="0" err="1" smtClean="0">
                <a:latin typeface="Outfit" panose="020B0604020202020204" charset="0"/>
              </a:rPr>
              <a:t>Venugopal</a:t>
            </a:r>
            <a:r>
              <a:rPr lang="en-US" sz="1200" dirty="0" smtClean="0">
                <a:latin typeface="Outfit" panose="020B0604020202020204" charset="0"/>
              </a:rPr>
              <a:t> - FD0003363</a:t>
            </a:r>
            <a:endParaRPr lang="en-US" sz="1200" dirty="0">
              <a:latin typeface="Outfit" panose="020B0604020202020204" charset="0"/>
            </a:endParaRPr>
          </a:p>
          <a:p>
            <a:endParaRPr lang="en-IN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9"/>
          <p:cNvSpPr txBox="1">
            <a:spLocks noGrp="1"/>
          </p:cNvSpPr>
          <p:nvPr>
            <p:ph type="title"/>
          </p:nvPr>
        </p:nvSpPr>
        <p:spPr>
          <a:xfrm>
            <a:off x="3862975" y="797732"/>
            <a:ext cx="4567800" cy="116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 smtClean="0"/>
              <a:t>Hypothesis 1</a:t>
            </a:r>
            <a:endParaRPr sz="4800" dirty="0"/>
          </a:p>
        </p:txBody>
      </p:sp>
      <p:sp>
        <p:nvSpPr>
          <p:cNvPr id="405" name="Google Shape;405;p39"/>
          <p:cNvSpPr txBox="1">
            <a:spLocks noGrp="1"/>
          </p:cNvSpPr>
          <p:nvPr>
            <p:ph type="subTitle" idx="1"/>
          </p:nvPr>
        </p:nvSpPr>
        <p:spPr>
          <a:xfrm>
            <a:off x="3862975" y="1903527"/>
            <a:ext cx="4923216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just"/>
            <a:r>
              <a:rPr lang="en-US" b="1" dirty="0">
                <a:latin typeface="Outfit" panose="020B0604020202020204" charset="0"/>
              </a:rPr>
              <a:t>Cities with higher median list prices tend to have a larger gap between list price and sale price.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406" name="Google Shape;406;p39"/>
          <p:cNvGrpSpPr/>
          <p:nvPr/>
        </p:nvGrpSpPr>
        <p:grpSpPr>
          <a:xfrm>
            <a:off x="-541907" y="-622274"/>
            <a:ext cx="4136119" cy="6091167"/>
            <a:chOff x="-541907" y="-622274"/>
            <a:chExt cx="4136119" cy="6091167"/>
          </a:xfrm>
        </p:grpSpPr>
        <p:sp>
          <p:nvSpPr>
            <p:cNvPr id="407" name="Google Shape;407;p39"/>
            <p:cNvSpPr/>
            <p:nvPr/>
          </p:nvSpPr>
          <p:spPr>
            <a:xfrm rot="10800000">
              <a:off x="84193" y="4041766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39"/>
            <p:cNvSpPr/>
            <p:nvPr/>
          </p:nvSpPr>
          <p:spPr>
            <a:xfrm rot="10800000">
              <a:off x="993581" y="456941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39"/>
            <p:cNvSpPr/>
            <p:nvPr/>
          </p:nvSpPr>
          <p:spPr>
            <a:xfrm rot="10800000">
              <a:off x="2040588" y="96213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39"/>
            <p:cNvSpPr/>
            <p:nvPr/>
          </p:nvSpPr>
          <p:spPr>
            <a:xfrm rot="10800000">
              <a:off x="-541907" y="962141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39"/>
            <p:cNvSpPr/>
            <p:nvPr/>
          </p:nvSpPr>
          <p:spPr>
            <a:xfrm flipH="1">
              <a:off x="993584" y="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39"/>
            <p:cNvSpPr/>
            <p:nvPr/>
          </p:nvSpPr>
          <p:spPr>
            <a:xfrm flipH="1">
              <a:off x="713235" y="227519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39"/>
            <p:cNvSpPr/>
            <p:nvPr/>
          </p:nvSpPr>
          <p:spPr>
            <a:xfrm flipH="1">
              <a:off x="421473" y="177885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39"/>
            <p:cNvSpPr/>
            <p:nvPr/>
          </p:nvSpPr>
          <p:spPr>
            <a:xfrm flipH="1">
              <a:off x="1611716" y="14749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39"/>
            <p:cNvSpPr/>
            <p:nvPr/>
          </p:nvSpPr>
          <p:spPr>
            <a:xfrm flipH="1">
              <a:off x="2597873" y="-622274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39"/>
            <p:cNvSpPr/>
            <p:nvPr/>
          </p:nvSpPr>
          <p:spPr>
            <a:xfrm flipH="1">
              <a:off x="1260177" y="265125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39"/>
            <p:cNvSpPr/>
            <p:nvPr/>
          </p:nvSpPr>
          <p:spPr>
            <a:xfrm flipH="1">
              <a:off x="2180770" y="-13821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39"/>
            <p:cNvSpPr/>
            <p:nvPr/>
          </p:nvSpPr>
          <p:spPr>
            <a:xfrm rot="10800000">
              <a:off x="1759176" y="404513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39"/>
            <p:cNvSpPr/>
            <p:nvPr/>
          </p:nvSpPr>
          <p:spPr>
            <a:xfrm rot="10800000">
              <a:off x="2367643" y="2651241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39"/>
            <p:cNvSpPr/>
            <p:nvPr/>
          </p:nvSpPr>
          <p:spPr>
            <a:xfrm rot="10800000">
              <a:off x="503546" y="355770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39"/>
            <p:cNvSpPr/>
            <p:nvPr/>
          </p:nvSpPr>
          <p:spPr>
            <a:xfrm rot="10800000">
              <a:off x="1759170" y="4500771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39"/>
            <p:cNvSpPr/>
            <p:nvPr/>
          </p:nvSpPr>
          <p:spPr>
            <a:xfrm flipH="1">
              <a:off x="-125473" y="539494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39"/>
            <p:cNvSpPr/>
            <p:nvPr/>
          </p:nvSpPr>
          <p:spPr>
            <a:xfrm flipH="1">
              <a:off x="2755502" y="3194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3862968" y="2663149"/>
            <a:ext cx="402336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dk1"/>
                </a:solidFill>
                <a:latin typeface="Outfit" panose="020B0604020202020204" charset="0"/>
                <a:ea typeface="DM Sans"/>
                <a:cs typeface="DM Sans"/>
              </a:rPr>
              <a:t>Key Variables Used for H1: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dk1"/>
                </a:solidFill>
                <a:latin typeface="Outfit" panose="020B0604020202020204" charset="0"/>
                <a:ea typeface="DM Sans"/>
                <a:cs typeface="DM Sans"/>
                <a:sym typeface="DM Sans"/>
              </a:rPr>
              <a:t>Median List Price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dk1"/>
                </a:solidFill>
                <a:latin typeface="Outfit" panose="020B0604020202020204" charset="0"/>
                <a:ea typeface="DM Sans"/>
                <a:cs typeface="DM Sans"/>
                <a:sym typeface="DM Sans"/>
              </a:rPr>
              <a:t>Median Sale Price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dk1"/>
                </a:solidFill>
                <a:latin typeface="Outfit" panose="020B0604020202020204" charset="0"/>
                <a:ea typeface="DM Sans"/>
                <a:cs typeface="DM Sans"/>
                <a:sym typeface="DM Sans"/>
              </a:rPr>
              <a:t>Price Gap = List Price - Sale Price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dk1"/>
                </a:solidFill>
                <a:latin typeface="Outfit" panose="020B0604020202020204" charset="0"/>
                <a:ea typeface="DM Sans"/>
                <a:cs typeface="DM Sans"/>
                <a:sym typeface="DM Sans"/>
              </a:rPr>
              <a:t>Price Gap % = Gap / List Price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dk1"/>
                </a:solidFill>
                <a:latin typeface="Outfit" panose="020B0604020202020204" charset="0"/>
                <a:ea typeface="DM Sans"/>
                <a:cs typeface="DM Sans"/>
                <a:sym typeface="DM Sans"/>
              </a:rPr>
              <a:t>City-level averages computed for analysis</a:t>
            </a:r>
            <a:endParaRPr lang="en-IN" dirty="0">
              <a:solidFill>
                <a:schemeClr val="dk1"/>
              </a:solidFill>
              <a:latin typeface="Outfit" panose="020B0604020202020204" charset="0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5" grpId="0" build="p"/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832" y="159195"/>
            <a:ext cx="5005005" cy="2377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195836" y="588396"/>
            <a:ext cx="3913001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200" dirty="0" smtClean="0">
                <a:latin typeface="Outfit" panose="020B0604020202020204" charset="0"/>
              </a:rPr>
              <a:t>Correlation </a:t>
            </a:r>
            <a:r>
              <a:rPr lang="en-IN" sz="1200" dirty="0">
                <a:latin typeface="Outfit" panose="020B0604020202020204" charset="0"/>
              </a:rPr>
              <a:t>(List Price vs Price Gap USD): </a:t>
            </a:r>
            <a:r>
              <a:rPr lang="en-IN" sz="1200" b="1" dirty="0">
                <a:latin typeface="Outfit" panose="020B0604020202020204" charset="0"/>
              </a:rPr>
              <a:t>+0.72 </a:t>
            </a:r>
            <a:endParaRPr lang="en-IN" sz="1200" dirty="0">
              <a:latin typeface="Outfit" panose="020B0604020202020204" charset="0"/>
            </a:endParaRP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200" dirty="0">
                <a:latin typeface="Outfit" panose="020B0604020202020204" charset="0"/>
              </a:rPr>
              <a:t>A clear upward trend is visible: as the list price increases, the price gap also increases.</a:t>
            </a: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200" dirty="0">
                <a:latin typeface="Outfit" panose="020B0604020202020204" charset="0"/>
              </a:rPr>
              <a:t>This means that high-priced cities tend to show much larger absolute differences between list and sale prices.</a:t>
            </a:r>
            <a:endParaRPr lang="en-IN" sz="1200" dirty="0">
              <a:latin typeface="Outfit" panose="020B060402020202020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832" y="2722347"/>
            <a:ext cx="5005005" cy="242115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195837" y="2998965"/>
            <a:ext cx="391300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200" dirty="0">
                <a:latin typeface="Outfit" panose="020B0604020202020204" charset="0"/>
              </a:rPr>
              <a:t>Correlation (List Price vs Price Gap %): </a:t>
            </a:r>
            <a:r>
              <a:rPr lang="en-IN" sz="1200" b="1" dirty="0" smtClean="0">
                <a:latin typeface="Outfit" panose="020B0604020202020204" charset="0"/>
              </a:rPr>
              <a:t>- 0.008</a:t>
            </a: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200" dirty="0" smtClean="0">
                <a:latin typeface="Outfit" panose="020B0604020202020204" charset="0"/>
              </a:rPr>
              <a:t>Here</a:t>
            </a:r>
            <a:r>
              <a:rPr lang="en-US" sz="1200" dirty="0">
                <a:latin typeface="Outfit" panose="020B0604020202020204" charset="0"/>
              </a:rPr>
              <a:t>, the points are nearly flat, with no visible trend.</a:t>
            </a: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200" dirty="0">
                <a:latin typeface="Outfit" panose="020B0604020202020204" charset="0"/>
              </a:rPr>
              <a:t>It indicates that </a:t>
            </a:r>
            <a:r>
              <a:rPr lang="en-US" sz="1200" dirty="0" smtClean="0">
                <a:latin typeface="Outfit" panose="020B0604020202020204" charset="0"/>
              </a:rPr>
              <a:t>high-price </a:t>
            </a:r>
            <a:r>
              <a:rPr lang="en-US" sz="1200" dirty="0">
                <a:latin typeface="Outfit" panose="020B0604020202020204" charset="0"/>
              </a:rPr>
              <a:t>markets are not disproportionately overpriced relative to their overall price level.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40"/>
          <p:cNvSpPr txBox="1">
            <a:spLocks noGrp="1"/>
          </p:cNvSpPr>
          <p:nvPr>
            <p:ph type="title"/>
          </p:nvPr>
        </p:nvSpPr>
        <p:spPr>
          <a:xfrm>
            <a:off x="547105" y="946127"/>
            <a:ext cx="4344300" cy="91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/>
              <a:t>Hypothesis 2</a:t>
            </a:r>
            <a:endParaRPr sz="4800" dirty="0"/>
          </a:p>
        </p:txBody>
      </p:sp>
      <p:sp>
        <p:nvSpPr>
          <p:cNvPr id="431" name="Google Shape;431;p40"/>
          <p:cNvSpPr txBox="1">
            <a:spLocks noGrp="1"/>
          </p:cNvSpPr>
          <p:nvPr>
            <p:ph type="subTitle" idx="1"/>
          </p:nvPr>
        </p:nvSpPr>
        <p:spPr>
          <a:xfrm>
            <a:off x="547104" y="1842648"/>
            <a:ext cx="4915437" cy="7047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b="1" dirty="0">
                <a:latin typeface="Outfit" panose="020B0604020202020204" charset="0"/>
              </a:rPr>
              <a:t>More competitive cities show higher </a:t>
            </a:r>
            <a:r>
              <a:rPr lang="en-IN" b="1" dirty="0" err="1" smtClean="0">
                <a:latin typeface="Outfit" panose="020B0604020202020204" charset="0"/>
              </a:rPr>
              <a:t>sale_to</a:t>
            </a:r>
            <a:r>
              <a:rPr lang="en-IN" b="1" dirty="0" err="1">
                <a:latin typeface="Outfit" panose="020B0604020202020204" charset="0"/>
              </a:rPr>
              <a:t>_</a:t>
            </a:r>
            <a:r>
              <a:rPr lang="en-IN" b="1" dirty="0" err="1" smtClean="0">
                <a:latin typeface="Outfit" panose="020B0604020202020204" charset="0"/>
              </a:rPr>
              <a:t>list</a:t>
            </a:r>
            <a:r>
              <a:rPr lang="en-IN" b="1" dirty="0" smtClean="0">
                <a:latin typeface="Outfit" panose="020B0604020202020204" charset="0"/>
              </a:rPr>
              <a:t> </a:t>
            </a:r>
            <a:r>
              <a:rPr lang="en-IN" b="1" dirty="0">
                <a:latin typeface="Outfit" panose="020B0604020202020204" charset="0"/>
              </a:rPr>
              <a:t>ratios and lower days on </a:t>
            </a:r>
            <a:r>
              <a:rPr lang="en-IN" b="1" dirty="0" smtClean="0">
                <a:latin typeface="Outfit" panose="020B0604020202020204" charset="0"/>
              </a:rPr>
              <a:t>market</a:t>
            </a:r>
            <a:r>
              <a:rPr lang="en-IN" i="1" dirty="0"/>
              <a:t>.</a:t>
            </a:r>
            <a:endParaRPr dirty="0"/>
          </a:p>
        </p:txBody>
      </p:sp>
      <p:grpSp>
        <p:nvGrpSpPr>
          <p:cNvPr id="432" name="Google Shape;432;p40"/>
          <p:cNvGrpSpPr/>
          <p:nvPr/>
        </p:nvGrpSpPr>
        <p:grpSpPr>
          <a:xfrm>
            <a:off x="5104880" y="-153372"/>
            <a:ext cx="4218588" cy="6000577"/>
            <a:chOff x="5104880" y="-153372"/>
            <a:chExt cx="4218588" cy="6000577"/>
          </a:xfrm>
        </p:grpSpPr>
        <p:sp>
          <p:nvSpPr>
            <p:cNvPr id="433" name="Google Shape;433;p40"/>
            <p:cNvSpPr/>
            <p:nvPr/>
          </p:nvSpPr>
          <p:spPr>
            <a:xfrm>
              <a:off x="7074911" y="254737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40"/>
            <p:cNvSpPr/>
            <p:nvPr/>
          </p:nvSpPr>
          <p:spPr>
            <a:xfrm>
              <a:off x="7026089" y="-1533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40"/>
            <p:cNvSpPr/>
            <p:nvPr/>
          </p:nvSpPr>
          <p:spPr>
            <a:xfrm>
              <a:off x="6606684" y="318466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40"/>
            <p:cNvSpPr/>
            <p:nvPr/>
          </p:nvSpPr>
          <p:spPr>
            <a:xfrm>
              <a:off x="6138958" y="13708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40"/>
            <p:cNvSpPr/>
            <p:nvPr/>
          </p:nvSpPr>
          <p:spPr>
            <a:xfrm>
              <a:off x="5732458" y="87452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40"/>
            <p:cNvSpPr/>
            <p:nvPr/>
          </p:nvSpPr>
          <p:spPr>
            <a:xfrm>
              <a:off x="7480889" y="98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40"/>
            <p:cNvSpPr/>
            <p:nvPr/>
          </p:nvSpPr>
          <p:spPr>
            <a:xfrm>
              <a:off x="7074904" y="207505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40"/>
            <p:cNvSpPr/>
            <p:nvPr/>
          </p:nvSpPr>
          <p:spPr>
            <a:xfrm>
              <a:off x="7962441" y="140407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40"/>
            <p:cNvSpPr/>
            <p:nvPr/>
          </p:nvSpPr>
          <p:spPr>
            <a:xfrm rot="10800000" flipH="1">
              <a:off x="6036087" y="312497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40"/>
            <p:cNvSpPr/>
            <p:nvPr/>
          </p:nvSpPr>
          <p:spPr>
            <a:xfrm rot="10800000" flipH="1">
              <a:off x="6355205" y="410208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40"/>
            <p:cNvSpPr/>
            <p:nvPr/>
          </p:nvSpPr>
          <p:spPr>
            <a:xfrm rot="10800000" flipH="1">
              <a:off x="5732459" y="487908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40"/>
            <p:cNvSpPr/>
            <p:nvPr/>
          </p:nvSpPr>
          <p:spPr>
            <a:xfrm rot="10800000" flipH="1">
              <a:off x="6683197" y="351549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40"/>
            <p:cNvSpPr/>
            <p:nvPr/>
          </p:nvSpPr>
          <p:spPr>
            <a:xfrm rot="10800000" flipH="1">
              <a:off x="5104880" y="443452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40"/>
            <p:cNvSpPr/>
            <p:nvPr/>
          </p:nvSpPr>
          <p:spPr>
            <a:xfrm>
              <a:off x="8484758" y="243811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40"/>
            <p:cNvSpPr/>
            <p:nvPr/>
          </p:nvSpPr>
          <p:spPr>
            <a:xfrm>
              <a:off x="8038260" y="292128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40"/>
            <p:cNvSpPr/>
            <p:nvPr/>
          </p:nvSpPr>
          <p:spPr>
            <a:xfrm rot="10800000" flipH="1">
              <a:off x="7853362" y="396220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40"/>
            <p:cNvSpPr/>
            <p:nvPr/>
          </p:nvSpPr>
          <p:spPr>
            <a:xfrm rot="10800000" flipH="1">
              <a:off x="8261505" y="443452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556105" y="2547378"/>
            <a:ext cx="393589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dk1"/>
                </a:solidFill>
                <a:latin typeface="Outfit" panose="020B0604020202020204" charset="0"/>
                <a:ea typeface="DM Sans"/>
                <a:cs typeface="DM Sans"/>
              </a:rPr>
              <a:t>Key Variables Used for </a:t>
            </a:r>
            <a:r>
              <a:rPr lang="en-US" b="1" dirty="0" smtClean="0">
                <a:solidFill>
                  <a:schemeClr val="dk1"/>
                </a:solidFill>
                <a:latin typeface="Outfit" panose="020B0604020202020204" charset="0"/>
                <a:ea typeface="DM Sans"/>
                <a:cs typeface="DM Sans"/>
              </a:rPr>
              <a:t>H2:</a:t>
            </a:r>
            <a:endParaRPr lang="en-IN" dirty="0">
              <a:latin typeface="Outfit" panose="020B0604020202020204" charset="0"/>
            </a:endParaRPr>
          </a:p>
          <a:p>
            <a:pPr marL="2857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 err="1" smtClean="0">
                <a:latin typeface="Outfit" panose="020B0604020202020204" charset="0"/>
              </a:rPr>
              <a:t>Sale_to</a:t>
            </a:r>
            <a:r>
              <a:rPr lang="en-IN" dirty="0" err="1">
                <a:latin typeface="Outfit" panose="020B0604020202020204" charset="0"/>
              </a:rPr>
              <a:t>_</a:t>
            </a:r>
            <a:r>
              <a:rPr lang="en-IN" dirty="0" err="1" smtClean="0">
                <a:latin typeface="Outfit" panose="020B0604020202020204" charset="0"/>
              </a:rPr>
              <a:t>list</a:t>
            </a:r>
            <a:r>
              <a:rPr lang="en-IN" dirty="0" smtClean="0">
                <a:latin typeface="Outfit" panose="020B0604020202020204" charset="0"/>
              </a:rPr>
              <a:t> ratio</a:t>
            </a:r>
          </a:p>
          <a:p>
            <a:pPr marL="2857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 smtClean="0">
                <a:latin typeface="Outfit" panose="020B0604020202020204" charset="0"/>
              </a:rPr>
              <a:t>% of homes sold above list price</a:t>
            </a:r>
          </a:p>
          <a:p>
            <a:pPr marL="2857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 smtClean="0">
                <a:latin typeface="Outfit" panose="020B0604020202020204" charset="0"/>
              </a:rPr>
              <a:t>Median </a:t>
            </a:r>
            <a:r>
              <a:rPr lang="en-IN" dirty="0">
                <a:latin typeface="Outfit" panose="020B0604020202020204" charset="0"/>
              </a:rPr>
              <a:t>days on market (DOM)</a:t>
            </a:r>
          </a:p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1" grpId="0" build="p"/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54"/>
          <p:cNvSpPr txBox="1">
            <a:spLocks noGrp="1"/>
          </p:cNvSpPr>
          <p:nvPr>
            <p:ph type="title"/>
          </p:nvPr>
        </p:nvSpPr>
        <p:spPr>
          <a:xfrm>
            <a:off x="834887" y="110900"/>
            <a:ext cx="7418567" cy="59676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/>
            <a:r>
              <a:rPr lang="en-IN" sz="2800" dirty="0"/>
              <a:t>Analytical Method &amp; </a:t>
            </a:r>
            <a:r>
              <a:rPr lang="en-IN" sz="2800" dirty="0" smtClean="0"/>
              <a:t>Evidence for H2</a:t>
            </a:r>
            <a:endParaRPr sz="2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246" y="842181"/>
            <a:ext cx="3333943" cy="289369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0696" y="818721"/>
            <a:ext cx="3323897" cy="288222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0877" y="3870531"/>
            <a:ext cx="37315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 fontAlgn="ctr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1200" dirty="0"/>
          </a:p>
          <a:p>
            <a:endParaRPr lang="en-IN" dirty="0"/>
          </a:p>
        </p:txBody>
      </p:sp>
      <p:sp>
        <p:nvSpPr>
          <p:cNvPr id="8" name="Rectangle 7"/>
          <p:cNvSpPr/>
          <p:nvPr/>
        </p:nvSpPr>
        <p:spPr>
          <a:xfrm>
            <a:off x="131379" y="3601226"/>
            <a:ext cx="8518634" cy="170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fontAlgn="ctr">
              <a:lnSpc>
                <a:spcPct val="150000"/>
              </a:lnSpc>
            </a:pPr>
            <a:r>
              <a:rPr lang="en-IN" b="1" dirty="0" smtClean="0">
                <a:latin typeface="Outfit" panose="020B0604020202020204" charset="0"/>
              </a:rPr>
              <a:t>Key Insights</a:t>
            </a:r>
          </a:p>
          <a:p>
            <a:pPr marL="628650" indent="-285750" fontAlgn="ctr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200" dirty="0" smtClean="0">
                <a:latin typeface="Outfit" panose="020B0604020202020204" charset="0"/>
              </a:rPr>
              <a:t>Correlation</a:t>
            </a:r>
            <a:r>
              <a:rPr lang="en-IN" sz="1200" dirty="0">
                <a:latin typeface="Outfit" panose="020B0604020202020204" charset="0"/>
              </a:rPr>
              <a:t>: </a:t>
            </a:r>
            <a:r>
              <a:rPr lang="en-IN" sz="1200" dirty="0" err="1" smtClean="0">
                <a:latin typeface="Outfit" panose="020B0604020202020204" charset="0"/>
              </a:rPr>
              <a:t>Sale_to</a:t>
            </a:r>
            <a:r>
              <a:rPr lang="en-IN" sz="1200" dirty="0" err="1">
                <a:latin typeface="Outfit" panose="020B0604020202020204" charset="0"/>
              </a:rPr>
              <a:t>_</a:t>
            </a:r>
            <a:r>
              <a:rPr lang="en-IN" sz="1200" dirty="0" err="1" smtClean="0">
                <a:latin typeface="Outfit" panose="020B0604020202020204" charset="0"/>
              </a:rPr>
              <a:t>list</a:t>
            </a:r>
            <a:r>
              <a:rPr lang="en-IN" sz="1200" dirty="0" smtClean="0">
                <a:latin typeface="Outfit" panose="020B0604020202020204" charset="0"/>
              </a:rPr>
              <a:t> </a:t>
            </a:r>
            <a:r>
              <a:rPr lang="en-IN" sz="1200" dirty="0">
                <a:latin typeface="Outfit" panose="020B0604020202020204" charset="0"/>
              </a:rPr>
              <a:t>vs DOM = </a:t>
            </a:r>
            <a:r>
              <a:rPr lang="x-IV_mathan" sz="1200" b="1" dirty="0">
                <a:latin typeface="Outfit" panose="020B0604020202020204" charset="0"/>
              </a:rPr>
              <a:t>-</a:t>
            </a:r>
            <a:r>
              <a:rPr lang="en-IN" sz="1200" b="1" dirty="0" smtClean="0">
                <a:latin typeface="Outfit" panose="020B0604020202020204" charset="0"/>
              </a:rPr>
              <a:t>0.216</a:t>
            </a:r>
            <a:endParaRPr lang="en-IN" sz="1200" dirty="0">
              <a:latin typeface="Outfit" panose="020B0604020202020204" charset="0"/>
            </a:endParaRPr>
          </a:p>
          <a:p>
            <a:pPr marL="628650" indent="-285750" fontAlgn="ctr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200" dirty="0">
                <a:latin typeface="Outfit" panose="020B0604020202020204" charset="0"/>
              </a:rPr>
              <a:t>Correlation: % Sold Above List vs DOM = </a:t>
            </a:r>
            <a:r>
              <a:rPr lang="x-IV_mathan" sz="1200" b="1" dirty="0" smtClean="0">
                <a:latin typeface="Outfit" panose="020B0604020202020204" charset="0"/>
              </a:rPr>
              <a:t>-</a:t>
            </a:r>
            <a:r>
              <a:rPr lang="en-IN" sz="1200" b="1" dirty="0" smtClean="0">
                <a:latin typeface="Outfit" panose="020B0604020202020204" charset="0"/>
              </a:rPr>
              <a:t>0.212</a:t>
            </a:r>
            <a:endParaRPr lang="en-IN" sz="1200" dirty="0">
              <a:latin typeface="Outfit" panose="020B0604020202020204" charset="0"/>
            </a:endParaRPr>
          </a:p>
          <a:p>
            <a:pPr marL="628650" indent="-285750" fontAlgn="ctr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200" dirty="0">
                <a:latin typeface="Outfit" panose="020B0604020202020204" charset="0"/>
              </a:rPr>
              <a:t>Regression (DOM ~ </a:t>
            </a:r>
            <a:r>
              <a:rPr lang="en-IN" sz="1200" dirty="0" err="1" smtClean="0">
                <a:latin typeface="Outfit" panose="020B0604020202020204" charset="0"/>
              </a:rPr>
              <a:t>Sale_to</a:t>
            </a:r>
            <a:r>
              <a:rPr lang="en-IN" sz="1200" dirty="0" err="1">
                <a:latin typeface="Outfit" panose="020B0604020202020204" charset="0"/>
              </a:rPr>
              <a:t>_</a:t>
            </a:r>
            <a:r>
              <a:rPr lang="en-IN" sz="1200" dirty="0" err="1" smtClean="0">
                <a:latin typeface="Outfit" panose="020B0604020202020204" charset="0"/>
              </a:rPr>
              <a:t>list</a:t>
            </a:r>
            <a:r>
              <a:rPr lang="en-IN" sz="1200" dirty="0">
                <a:latin typeface="Outfit" panose="020B0604020202020204" charset="0"/>
              </a:rPr>
              <a:t>): </a:t>
            </a:r>
            <a:r>
              <a:rPr lang="en-IN" sz="1200" b="1" dirty="0">
                <a:latin typeface="Outfit" panose="020B0604020202020204" charset="0"/>
              </a:rPr>
              <a:t>β = </a:t>
            </a:r>
            <a:r>
              <a:rPr lang="x-IV_mathan" sz="1200" b="1" dirty="0" smtClean="0">
                <a:latin typeface="Outfit" panose="020B0604020202020204" charset="0"/>
              </a:rPr>
              <a:t>-</a:t>
            </a:r>
            <a:r>
              <a:rPr lang="en-IN" sz="1200" b="1" dirty="0" smtClean="0">
                <a:latin typeface="Outfit" panose="020B0604020202020204" charset="0"/>
              </a:rPr>
              <a:t>386.95</a:t>
            </a:r>
            <a:r>
              <a:rPr lang="en-IN" sz="1200" dirty="0">
                <a:latin typeface="Outfit" panose="020B0604020202020204" charset="0"/>
              </a:rPr>
              <a:t>, </a:t>
            </a:r>
            <a:r>
              <a:rPr lang="en-IN" sz="1200" b="1" dirty="0">
                <a:latin typeface="Outfit" panose="020B0604020202020204" charset="0"/>
              </a:rPr>
              <a:t>p &lt; 0.001</a:t>
            </a:r>
            <a:r>
              <a:rPr lang="en-IN" sz="1200" dirty="0">
                <a:latin typeface="Outfit" panose="020B0604020202020204" charset="0"/>
              </a:rPr>
              <a:t>, </a:t>
            </a:r>
            <a:r>
              <a:rPr lang="en-IN" sz="1200" b="1" dirty="0">
                <a:latin typeface="Outfit" panose="020B0604020202020204" charset="0"/>
              </a:rPr>
              <a:t>R² = </a:t>
            </a:r>
            <a:r>
              <a:rPr lang="en-IN" sz="1200" b="1" dirty="0" smtClean="0">
                <a:latin typeface="Outfit" panose="020B0604020202020204" charset="0"/>
              </a:rPr>
              <a:t>0.0466</a:t>
            </a:r>
          </a:p>
          <a:p>
            <a:pPr marL="628650" indent="-285750" fontAlgn="ctr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200" dirty="0">
                <a:latin typeface="Outfit" panose="020B0604020202020204" charset="0"/>
              </a:rPr>
              <a:t>Low - competitiveness cities → highest median days on market and vice versa</a:t>
            </a:r>
            <a:endParaRPr lang="en-IN" sz="1200" dirty="0">
              <a:latin typeface="Outfit" panose="020B0604020202020204" charset="0"/>
            </a:endParaRPr>
          </a:p>
          <a:p>
            <a:pPr marL="628650" indent="-285750" fontAlgn="ctr">
              <a:buFont typeface="Wingdings" panose="05000000000000000000" pitchFamily="2" charset="2"/>
              <a:buChar char="Ø"/>
            </a:pPr>
            <a:endParaRPr lang="en-IN" sz="1200" dirty="0">
              <a:latin typeface="Outfit" panose="020B060402020202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50"/>
          <p:cNvSpPr txBox="1">
            <a:spLocks noGrp="1"/>
          </p:cNvSpPr>
          <p:nvPr>
            <p:ph type="title"/>
          </p:nvPr>
        </p:nvSpPr>
        <p:spPr>
          <a:xfrm>
            <a:off x="203164" y="185240"/>
            <a:ext cx="3939465" cy="170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 dirty="0" smtClean="0"/>
              <a:t>Hypothesis 3 </a:t>
            </a:r>
            <a:br>
              <a:rPr lang="en-IN" dirty="0" smtClean="0"/>
            </a:br>
            <a:r>
              <a:rPr lang="en-US" sz="1600" dirty="0"/>
              <a:t>Cities with stronger demand relative to supply experience higher short-term housing price growth.</a:t>
            </a:r>
            <a:endParaRPr sz="1600" dirty="0"/>
          </a:p>
        </p:txBody>
      </p:sp>
      <p:sp>
        <p:nvSpPr>
          <p:cNvPr id="666" name="Google Shape;666;p50"/>
          <p:cNvSpPr txBox="1">
            <a:spLocks noGrp="1"/>
          </p:cNvSpPr>
          <p:nvPr>
            <p:ph type="subTitle" idx="1"/>
          </p:nvPr>
        </p:nvSpPr>
        <p:spPr>
          <a:xfrm>
            <a:off x="103368" y="2004844"/>
            <a:ext cx="4341412" cy="17830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sz="1600" b="1" dirty="0">
                <a:latin typeface="Outfit" panose="020B0604020202020204" charset="0"/>
              </a:rPr>
              <a:t>Key </a:t>
            </a:r>
            <a:r>
              <a:rPr lang="en-IN" sz="1600" b="1" dirty="0" smtClean="0">
                <a:latin typeface="Outfit" panose="020B0604020202020204" charset="0"/>
              </a:rPr>
              <a:t>Variables used for H3</a:t>
            </a:r>
            <a:endParaRPr lang="en-IN" sz="1600" b="1" dirty="0">
              <a:latin typeface="Outfit" panose="020B0604020202020204" charset="0"/>
            </a:endParaRPr>
          </a:p>
          <a:p>
            <a:pPr lvl="0">
              <a:buFont typeface="Wingdings" panose="05000000000000000000" pitchFamily="2" charset="2"/>
              <a:buChar char="Ø"/>
            </a:pPr>
            <a:r>
              <a:rPr lang="en-IN" b="1" dirty="0" smtClean="0">
                <a:latin typeface="Outfit" panose="020B0604020202020204" charset="0"/>
              </a:rPr>
              <a:t>Demand Pressure</a:t>
            </a:r>
            <a:r>
              <a:rPr lang="en-IN" dirty="0" smtClean="0">
                <a:latin typeface="Outfit" panose="020B0604020202020204" charset="0"/>
              </a:rPr>
              <a:t> = (Pending Sales + Homes Sold) / Inventory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b="1" dirty="0" smtClean="0">
                <a:latin typeface="Outfit" panose="020B0604020202020204" charset="0"/>
              </a:rPr>
              <a:t>Price </a:t>
            </a:r>
            <a:r>
              <a:rPr lang="en-IN" b="1" dirty="0">
                <a:latin typeface="Outfit" panose="020B0604020202020204" charset="0"/>
              </a:rPr>
              <a:t>Change </a:t>
            </a:r>
            <a:r>
              <a:rPr lang="en-IN" b="1" dirty="0" smtClean="0">
                <a:latin typeface="Outfit" panose="020B0604020202020204" charset="0"/>
              </a:rPr>
              <a:t>Metrics</a:t>
            </a:r>
            <a:r>
              <a:rPr lang="en-IN" dirty="0" smtClean="0">
                <a:latin typeface="Outfit" panose="020B0604020202020204" charset="0"/>
              </a:rPr>
              <a:t>: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dirty="0" smtClean="0">
                <a:latin typeface="Outfit" panose="020B0604020202020204" charset="0"/>
              </a:rPr>
              <a:t>Month-over-Month (</a:t>
            </a:r>
            <a:r>
              <a:rPr lang="en-IN" dirty="0" err="1" smtClean="0">
                <a:latin typeface="Outfit" panose="020B0604020202020204" charset="0"/>
              </a:rPr>
              <a:t>MoM</a:t>
            </a:r>
            <a:r>
              <a:rPr lang="en-IN" dirty="0" smtClean="0">
                <a:latin typeface="Outfit" panose="020B0604020202020204" charset="0"/>
              </a:rPr>
              <a:t>)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dirty="0" smtClean="0">
                <a:latin typeface="Outfit" panose="020B0604020202020204" charset="0"/>
              </a:rPr>
              <a:t>Year-over-Year </a:t>
            </a:r>
            <a:r>
              <a:rPr lang="en-IN" dirty="0">
                <a:latin typeface="Outfit" panose="020B0604020202020204" charset="0"/>
              </a:rPr>
              <a:t>(YoY)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3800" y="574854"/>
            <a:ext cx="4322877" cy="199200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3800" y="2676762"/>
            <a:ext cx="4465920" cy="200252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43"/>
          <p:cNvSpPr txBox="1">
            <a:spLocks noGrp="1"/>
          </p:cNvSpPr>
          <p:nvPr>
            <p:ph type="title"/>
          </p:nvPr>
        </p:nvSpPr>
        <p:spPr>
          <a:xfrm>
            <a:off x="751805" y="8186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dirty="0"/>
              <a:t>Interpretation &amp; Conclusion (H3)</a:t>
            </a:r>
            <a:br>
              <a:rPr lang="en-IN" dirty="0"/>
            </a:br>
            <a:r>
              <a:rPr lang="en-IN" dirty="0" smtClean="0"/>
              <a:t/>
            </a:r>
            <a:br>
              <a:rPr lang="en-IN" dirty="0" smtClean="0"/>
            </a:b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3971693" y="1051380"/>
            <a:ext cx="4665231" cy="1923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Outfit" panose="020B0604020202020204" charset="0"/>
              </a:rPr>
              <a:t>After Outlier Cleaning (</a:t>
            </a:r>
            <a:r>
              <a:rPr lang="en-IN" b="1" dirty="0" smtClean="0">
                <a:latin typeface="Outfit" panose="020B0604020202020204" charset="0"/>
              </a:rPr>
              <a:t>City-Level</a:t>
            </a:r>
            <a:r>
              <a:rPr lang="en-IN" b="1" dirty="0">
                <a:latin typeface="Outfit" panose="020B0604020202020204" charset="0"/>
              </a:rPr>
              <a:t>, YoY)</a:t>
            </a:r>
            <a:endParaRPr lang="en-IN" dirty="0">
              <a:latin typeface="Outfit" panose="020B0604020202020204" charset="0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Outfit" panose="020B0604020202020204" charset="0"/>
              </a:rPr>
              <a:t>Correlation: </a:t>
            </a:r>
            <a:r>
              <a:rPr lang="en-IN" b="1" dirty="0">
                <a:latin typeface="Outfit" panose="020B0604020202020204" charset="0"/>
              </a:rPr>
              <a:t>+0.035</a:t>
            </a:r>
            <a:endParaRPr lang="en-IN" dirty="0">
              <a:latin typeface="Outfit" panose="020B0604020202020204" charset="0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Outfit" panose="020B0604020202020204" charset="0"/>
              </a:rPr>
              <a:t>Regression coefficient: </a:t>
            </a:r>
            <a:r>
              <a:rPr lang="en-IN" b="1" dirty="0">
                <a:latin typeface="Outfit" panose="020B0604020202020204" charset="0"/>
              </a:rPr>
              <a:t>+</a:t>
            </a:r>
            <a:r>
              <a:rPr lang="en-IN" b="1" dirty="0" smtClean="0">
                <a:latin typeface="Outfit" panose="020B0604020202020204" charset="0"/>
              </a:rPr>
              <a:t>0.016</a:t>
            </a:r>
            <a:endParaRPr lang="en-IN" dirty="0">
              <a:latin typeface="Outfit" panose="020B060402020202020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 smtClean="0">
                <a:latin typeface="Outfit" panose="020B0604020202020204" charset="0"/>
              </a:rPr>
              <a:t>Key Insight</a:t>
            </a:r>
            <a:r>
              <a:rPr lang="en-IN" dirty="0" smtClean="0">
                <a:latin typeface="Outfit" panose="020B0604020202020204" charset="0"/>
              </a:rPr>
              <a:t>: H3 </a:t>
            </a:r>
            <a:r>
              <a:rPr lang="en-IN" dirty="0">
                <a:latin typeface="Outfit" panose="020B0604020202020204" charset="0"/>
              </a:rPr>
              <a:t>is weakly supported: demand pressure contributes to price growth, but is not a primary driver.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270" y="969251"/>
            <a:ext cx="3347497" cy="3016823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3971693" y="2974984"/>
            <a:ext cx="4364233" cy="2139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Outfit" panose="020B0604020202020204" charset="0"/>
              </a:rPr>
              <a:t>Conclusion</a:t>
            </a:r>
            <a:endParaRPr lang="en-US" dirty="0">
              <a:latin typeface="Outfit" panose="020B060402020202020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Outfit" panose="020B0604020202020204" charset="0"/>
              </a:rPr>
              <a:t>H1 &amp; H2 are supported</a:t>
            </a:r>
            <a:r>
              <a:rPr lang="en-US" dirty="0">
                <a:latin typeface="Outfit" panose="020B0604020202020204" charset="0"/>
              </a:rPr>
              <a:t> by strong statistical evidence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Outfit" panose="020B0604020202020204" charset="0"/>
              </a:rPr>
              <a:t>H3 is weakly supported</a:t>
            </a:r>
            <a:r>
              <a:rPr lang="en-US" dirty="0">
                <a:latin typeface="Outfit" panose="020B0604020202020204" charset="0"/>
              </a:rPr>
              <a:t>, indicating demand pressure alone does not strongly explain price changes</a:t>
            </a:r>
          </a:p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Data Collection and Analysis - Master of Science in Community Health and Prevention Research by Slidesgo">
  <a:themeElements>
    <a:clrScheme name="Simple Light">
      <a:dk1>
        <a:srgbClr val="384655"/>
      </a:dk1>
      <a:lt1>
        <a:srgbClr val="FFFFFF"/>
      </a:lt1>
      <a:dk2>
        <a:srgbClr val="AFC7FF"/>
      </a:dk2>
      <a:lt2>
        <a:srgbClr val="9FCBFD"/>
      </a:lt2>
      <a:accent1>
        <a:srgbClr val="68DAF8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8465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985</TotalTime>
  <Words>1378</Words>
  <Application>Microsoft Office PowerPoint</Application>
  <PresentationFormat>On-screen Show (16:9)</PresentationFormat>
  <Paragraphs>118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Wingdings</vt:lpstr>
      <vt:lpstr>DM Sans</vt:lpstr>
      <vt:lpstr>Outfit</vt:lpstr>
      <vt:lpstr>Outfit Medium</vt:lpstr>
      <vt:lpstr>Data Collection and Analysis - Master of Science in Community Health and Prevention Research by Slidesgo</vt:lpstr>
      <vt:lpstr>Dataset Overview - US Housing Market </vt:lpstr>
      <vt:lpstr>Hypothesis 1</vt:lpstr>
      <vt:lpstr>PowerPoint Presentation</vt:lpstr>
      <vt:lpstr>Hypothesis 2</vt:lpstr>
      <vt:lpstr>Analytical Method &amp; Evidence for H2</vt:lpstr>
      <vt:lpstr>Hypothesis 3  Cities with stronger demand relative to supply experience higher short-term housing price growth.</vt:lpstr>
      <vt:lpstr>Interpretation &amp; Conclusion (H3)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Preparation and Analysis of Data  US Housing Market (2024 – 2025)</dc:title>
  <dc:creator>Pavithra Lakshmi</dc:creator>
  <cp:lastModifiedBy>Pavithra Lakshmi</cp:lastModifiedBy>
  <cp:revision>34</cp:revision>
  <dcterms:modified xsi:type="dcterms:W3CDTF">2026-01-21T19:38:14Z</dcterms:modified>
</cp:coreProperties>
</file>